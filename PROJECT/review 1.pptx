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handoutMasterIdLst>
    <p:handoutMasterId r:id="rId16"/>
  </p:handoutMasterIdLst>
  <p:sldIdLst>
    <p:sldId id="258" r:id="rId2"/>
    <p:sldId id="377" r:id="rId3"/>
    <p:sldId id="391" r:id="rId4"/>
    <p:sldId id="392" r:id="rId5"/>
    <p:sldId id="393" r:id="rId6"/>
    <p:sldId id="394" r:id="rId7"/>
    <p:sldId id="395" r:id="rId8"/>
    <p:sldId id="396" r:id="rId9"/>
    <p:sldId id="398" r:id="rId10"/>
    <p:sldId id="397" r:id="rId11"/>
    <p:sldId id="400" r:id="rId12"/>
    <p:sldId id="399"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0" autoAdjust="0"/>
    <p:restoredTop sz="95033" autoAdjust="0"/>
  </p:normalViewPr>
  <p:slideViewPr>
    <p:cSldViewPr snapToGrid="0" snapToObjects="1">
      <p:cViewPr>
        <p:scale>
          <a:sx n="75" d="100"/>
          <a:sy n="75" d="100"/>
        </p:scale>
        <p:origin x="333" y="7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899808" y="391573"/>
            <a:ext cx="10392383" cy="776839"/>
          </a:xfrm>
        </p:spPr>
        <p:txBody>
          <a:bodyPr>
            <a:noAutofit/>
          </a:bodyPr>
          <a:lstStyle/>
          <a:p>
            <a:pPr algn="ctr">
              <a:lnSpc>
                <a:spcPct val="100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1</a:t>
            </a:r>
            <a:r>
              <a:rPr lang="en-US" sz="2400" b="1" baseline="30000" dirty="0">
                <a:latin typeface="Times New Roman" panose="02020603050405020304" pitchFamily="18" charset="0"/>
                <a:cs typeface="Times New Roman" panose="02020603050405020304" pitchFamily="18" charset="0"/>
              </a:rPr>
              <a:t>st</a:t>
            </a:r>
            <a:r>
              <a:rPr lang="en-US" sz="2400" b="1" dirty="0">
                <a:latin typeface="Times New Roman" panose="02020603050405020304" pitchFamily="18" charset="0"/>
                <a:cs typeface="Times New Roman" panose="02020603050405020304" pitchFamily="18" charset="0"/>
              </a:rPr>
              <a:t>  REVIEW</a:t>
            </a:r>
            <a:br>
              <a:rPr lang="en-US" sz="2400" dirty="0">
                <a:latin typeface="Times New Roman" panose="02020603050405020304" pitchFamily="18" charset="0"/>
                <a:cs typeface="Times New Roman" panose="02020603050405020304" pitchFamily="18" charset="0"/>
              </a:rPr>
            </a:br>
            <a:br>
              <a:rPr lang="en-US" sz="2400" dirty="0">
                <a:solidFill>
                  <a:srgbClr val="FF0000"/>
                </a:solidFill>
                <a:latin typeface="Times New Roman" panose="02020603050405020304" pitchFamily="18" charset="0"/>
                <a:cs typeface="Times New Roman" panose="02020603050405020304" pitchFamily="18" charset="0"/>
              </a:rPr>
            </a:br>
            <a:r>
              <a:rPr lang="en-IN" sz="2400" b="1" dirty="0">
                <a:solidFill>
                  <a:srgbClr val="002060"/>
                </a:solidFill>
                <a:latin typeface="Times New Roman" panose="02020603050405020304" pitchFamily="18" charset="0"/>
                <a:cs typeface="Times New Roman" panose="02020603050405020304" pitchFamily="18" charset="0"/>
              </a:rPr>
              <a:t>Subscription and Billing SAAS For Banking and Fintech</a:t>
            </a:r>
            <a:br>
              <a:rPr lang="en-US" sz="2400" b="1" dirty="0">
                <a:solidFill>
                  <a:srgbClr val="011893"/>
                </a:solidFill>
                <a:latin typeface="Times New Roman" panose="02020603050405020304" pitchFamily="18" charset="0"/>
                <a:cs typeface="Times New Roman" panose="02020603050405020304" pitchFamily="18" charset="0"/>
              </a:rPr>
            </a:br>
            <a:endParaRPr lang="en-US" sz="2400" b="1" dirty="0">
              <a:solidFill>
                <a:srgbClr val="011893"/>
              </a:solidFill>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US" dirty="0"/>
              <a:t>18-08-2026</a:t>
            </a: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1216454" y="5100977"/>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Times New Roman" panose="02020603050405020304" pitchFamily="18" charset="0"/>
                <a:cs typeface="Times New Roman" panose="02020603050405020304" pitchFamily="18" charset="0"/>
              </a:rPr>
              <a:t>Under the Guidance </a:t>
            </a:r>
          </a:p>
          <a:p>
            <a:pPr marL="0" indent="0" algn="ctr">
              <a:buNone/>
            </a:pPr>
            <a:r>
              <a:rPr lang="en-US" sz="2400" dirty="0">
                <a:latin typeface="Times New Roman" panose="02020603050405020304" pitchFamily="18" charset="0"/>
                <a:cs typeface="Times New Roman" panose="02020603050405020304" pitchFamily="18" charset="0"/>
              </a:rPr>
              <a:t>of </a:t>
            </a: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Dr. Y. </a:t>
            </a:r>
            <a:r>
              <a:rPr lang="en-US" sz="2400" dirty="0" err="1">
                <a:solidFill>
                  <a:srgbClr val="00B050"/>
                </a:solidFill>
                <a:latin typeface="Times New Roman" panose="02020603050405020304" pitchFamily="18" charset="0"/>
                <a:cs typeface="Times New Roman" panose="02020603050405020304" pitchFamily="18" charset="0"/>
              </a:rPr>
              <a:t>Subbarayudu</a:t>
            </a: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Font typeface="Arial" panose="020B0604020202020204" pitchFamily="34" charset="0"/>
              <a:buNone/>
            </a:pPr>
            <a:r>
              <a:rPr lang="en-US" sz="2400" dirty="0">
                <a:solidFill>
                  <a:srgbClr val="00B050"/>
                </a:solidFill>
                <a:latin typeface="Times New Roman" panose="02020603050405020304" pitchFamily="18" charset="0"/>
                <a:cs typeface="Times New Roman" panose="02020603050405020304" pitchFamily="18" charset="0"/>
              </a:rPr>
              <a:t>Assistant Professor</a:t>
            </a:r>
          </a:p>
          <a:p>
            <a:pPr marL="0" indent="0" algn="ctr">
              <a:buFont typeface="Arial" panose="020B0604020202020204" pitchFamily="34" charset="0"/>
              <a:buNone/>
            </a:pPr>
            <a:r>
              <a:rPr lang="en-US" sz="2400" dirty="0">
                <a:solidFill>
                  <a:srgbClr val="00B050"/>
                </a:solidFill>
                <a:latin typeface="Times New Roman" panose="02020603050405020304" pitchFamily="18" charset="0"/>
                <a:cs typeface="Times New Roman" panose="02020603050405020304" pitchFamily="18" charset="0"/>
              </a:rPr>
              <a:t>Department of Computer Science and Engineering </a:t>
            </a:r>
          </a:p>
          <a:p>
            <a:pPr marL="0" indent="0">
              <a:buFont typeface="Arial" panose="020B0604020202020204" pitchFamily="34" charset="0"/>
              <a:buNone/>
            </a:pPr>
            <a:endParaRPr lang="en-US" sz="2400" dirty="0">
              <a:solidFill>
                <a:srgbClr val="00B050"/>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887646672"/>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Venkata Sai Krishna</a:t>
                      </a:r>
                    </a:p>
                  </a:txBody>
                  <a:tcPr/>
                </a:tc>
                <a:tc>
                  <a:txBody>
                    <a:bodyPr/>
                    <a:lstStyle/>
                    <a:p>
                      <a:pPr algn="ctr"/>
                      <a:r>
                        <a:rPr lang="en-US" dirty="0">
                          <a:latin typeface="Times New Roman" panose="02020603050405020304" pitchFamily="18" charset="0"/>
                          <a:cs typeface="Times New Roman" panose="02020603050405020304" pitchFamily="18" charset="0"/>
                        </a:rPr>
                        <a:t>2520030027</a:t>
                      </a:r>
                    </a:p>
                  </a:txBody>
                  <a:tcPr/>
                </a:tc>
                <a:extLst>
                  <a:ext uri="{0D108BD9-81ED-4DB2-BD59-A6C34878D82A}">
                    <a16:rowId xmlns:a16="http://schemas.microsoft.com/office/drawing/2014/main" val="253518174"/>
                  </a:ext>
                </a:extLst>
              </a:tr>
              <a:tr h="370840">
                <a:tc>
                  <a:txBody>
                    <a:bodyPr/>
                    <a:lstStyle/>
                    <a:p>
                      <a:pPr algn="ctr"/>
                      <a:r>
                        <a:rPr lang="en-US" dirty="0" err="1">
                          <a:latin typeface="Times New Roman" panose="02020603050405020304" pitchFamily="18" charset="0"/>
                          <a:cs typeface="Times New Roman" panose="02020603050405020304" pitchFamily="18" charset="0"/>
                        </a:rPr>
                        <a:t>Pujith</a:t>
                      </a:r>
                      <a:r>
                        <a:rPr lang="en-US" dirty="0">
                          <a:latin typeface="Times New Roman" panose="02020603050405020304" pitchFamily="18" charset="0"/>
                          <a:cs typeface="Times New Roman" panose="02020603050405020304" pitchFamily="18" charset="0"/>
                        </a:rPr>
                        <a:t> Pavan Kumar</a:t>
                      </a:r>
                    </a:p>
                  </a:txBody>
                  <a:tcPr/>
                </a:tc>
                <a:tc>
                  <a:txBody>
                    <a:bodyPr/>
                    <a:lstStyle/>
                    <a:p>
                      <a:pPr algn="ctr"/>
                      <a:r>
                        <a:rPr lang="en-US" dirty="0">
                          <a:latin typeface="Times New Roman" panose="02020603050405020304" pitchFamily="18" charset="0"/>
                          <a:cs typeface="Times New Roman" panose="02020603050405020304" pitchFamily="18" charset="0"/>
                        </a:rPr>
                        <a:t>2520030029</a:t>
                      </a:r>
                    </a:p>
                  </a:txBody>
                  <a:tcPr/>
                </a:tc>
                <a:extLst>
                  <a:ext uri="{0D108BD9-81ED-4DB2-BD59-A6C34878D82A}">
                    <a16:rowId xmlns:a16="http://schemas.microsoft.com/office/drawing/2014/main" val="2413438055"/>
                  </a:ext>
                </a:extLst>
              </a:tr>
              <a:tr h="370840">
                <a:tc>
                  <a:txBody>
                    <a:bodyPr/>
                    <a:lstStyle/>
                    <a:p>
                      <a:pPr algn="ctr"/>
                      <a:r>
                        <a:rPr lang="en-US" dirty="0" err="1">
                          <a:latin typeface="Times New Roman" panose="02020603050405020304" pitchFamily="18" charset="0"/>
                          <a:cs typeface="Times New Roman" panose="02020603050405020304" pitchFamily="18" charset="0"/>
                        </a:rPr>
                        <a:t>Srivarun</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2520030324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NUMBER:18</a:t>
            </a:r>
            <a:endParaRPr lang="en-IN" sz="3200" b="1" dirty="0">
              <a:solidFill>
                <a:srgbClr val="0070C0"/>
              </a:solidFill>
            </a:endParaRPr>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424121406"/>
              </p:ext>
            </p:extLst>
          </p:nvPr>
        </p:nvGraphicFramePr>
        <p:xfrm>
          <a:off x="838199" y="1416193"/>
          <a:ext cx="10314710" cy="3108960"/>
        </p:xfrm>
        <a:graphic>
          <a:graphicData uri="http://schemas.openxmlformats.org/drawingml/2006/table">
            <a:tbl>
              <a:tblPr firstRow="1" bandRow="1">
                <a:tableStyleId>{5A111915-BE36-4E01-A7E5-04B1672EAD32}</a:tableStyleId>
              </a:tblPr>
              <a:tblGrid>
                <a:gridCol w="5157355">
                  <a:extLst>
                    <a:ext uri="{9D8B030D-6E8A-4147-A177-3AD203B41FA5}">
                      <a16:colId xmlns:a16="http://schemas.microsoft.com/office/drawing/2014/main" val="446563831"/>
                    </a:ext>
                  </a:extLst>
                </a:gridCol>
                <a:gridCol w="5157355">
                  <a:extLst>
                    <a:ext uri="{9D8B030D-6E8A-4147-A177-3AD203B41FA5}">
                      <a16:colId xmlns:a16="http://schemas.microsoft.com/office/drawing/2014/main" val="4175382372"/>
                    </a:ext>
                  </a:extLst>
                </a:gridCol>
              </a:tblGrid>
              <a:tr h="299984">
                <a:tc>
                  <a:txBody>
                    <a:bodyPr/>
                    <a:lstStyle/>
                    <a:p>
                      <a:pPr algn="ctr"/>
                      <a:r>
                        <a:rPr lang="en-US"/>
                        <a:t>Name of Candidate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Role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55536">
                <a:tc>
                  <a:txBody>
                    <a:bodyPr/>
                    <a:lstStyle/>
                    <a:p>
                      <a:pPr algn="ctr"/>
                      <a:r>
                        <a:rPr lang="en-US" dirty="0"/>
                        <a:t>Venkata Sai Krishna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Design and manage the database </a:t>
                      </a:r>
                    </a:p>
                    <a:p>
                      <a:pPr lvl="0" algn="just"/>
                      <a:r>
                        <a:rPr lang="en-IN" dirty="0"/>
                        <a:t>Handle PostgreSQL &amp; MongoDB </a:t>
                      </a:r>
                    </a:p>
                    <a:p>
                      <a:pPr lvl="0" algn="just"/>
                      <a:r>
                        <a:rPr lang="en-IN" dirty="0"/>
                        <a:t>Manage customer, subscription, and payment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55536">
                <a:tc>
                  <a:txBody>
                    <a:bodyPr/>
                    <a:lstStyle/>
                    <a:p>
                      <a:pPr algn="ctr"/>
                      <a:r>
                        <a:rPr lang="en-US" dirty="0" err="1"/>
                        <a:t>Pujith</a:t>
                      </a:r>
                      <a:r>
                        <a:rPr lang="en-US" dirty="0"/>
                        <a:t> Pavan Kumar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Develop the backend APIs </a:t>
                      </a:r>
                    </a:p>
                    <a:p>
                      <a:pPr lvl="0" algn="just"/>
                      <a:r>
                        <a:rPr lang="en-IN" dirty="0"/>
                        <a:t>Handle login, subscriptions, billing, and payments </a:t>
                      </a:r>
                    </a:p>
                    <a:p>
                      <a:pPr lvl="0" algn="just"/>
                      <a:r>
                        <a:rPr lang="en-IN" dirty="0"/>
                        <a:t>Work on microservices and 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555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t>Srivarun</a:t>
                      </a:r>
                      <a:endParaRPr lang="en-US"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just"/>
                      <a:r>
                        <a:rPr lang="en-IN" dirty="0"/>
                        <a:t>Design the website and dashboards </a:t>
                      </a:r>
                    </a:p>
                    <a:p>
                      <a:pPr lvl="0" algn="just"/>
                      <a:r>
                        <a:rPr lang="en-IN" dirty="0"/>
                        <a:t>Connect frontend with backend </a:t>
                      </a:r>
                    </a:p>
                    <a:p>
                      <a:pPr lvl="0" algn="just"/>
                      <a:r>
                        <a:rPr lang="en-IN" dirty="0"/>
                        <a:t>Handle Docker, deployment, and monitoring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290945"/>
            <a:ext cx="10515600" cy="1325563"/>
          </a:xfrm>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ABSTRACT</a:t>
            </a:r>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Subscription and Billing SaaS for Banking and Fintech is a platform designed to simplify the management of customers, subscription plans, billing, invoices, and payments in banking and fintech applications. Customers can choose plans, manage subscriptions, make payments, and view their billing history, while administrators can manage plans, customers, transactions, and </a:t>
            </a:r>
            <a:r>
              <a:rPr lang="en-IN" sz="2400" dirty="0" err="1">
                <a:latin typeface="Times New Roman" panose="02020603050405020304" pitchFamily="18" charset="0"/>
                <a:cs typeface="Times New Roman" panose="02020603050405020304" pitchFamily="18" charset="0"/>
              </a:rPr>
              <a:t>revenue.The</a:t>
            </a:r>
            <a:r>
              <a:rPr lang="en-IN" sz="2400" dirty="0">
                <a:latin typeface="Times New Roman" panose="02020603050405020304" pitchFamily="18" charset="0"/>
                <a:cs typeface="Times New Roman" panose="02020603050405020304" pitchFamily="18" charset="0"/>
              </a:rPr>
              <a:t> system uses PostgreSQL for important financial data and MongoDB for flexible data such as usage records and activity logs.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is used to develop secure backend APIs, with features such as JWT authentication and role-based access control. A microservices architecture is used to separate services such as users, subscriptions, billing, payments, and notifications. Docker and Kubernetes support deployment and scalability, while monitoring tools help track system performance and reliability. Overall, the project combines database systems, backend development, distributed systems, security, and DevOps concepts in a practical fintech application.</a:t>
            </a: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INTRDOUCTION</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The Subscription and Billing SaaS for Banking and Fintech is a system designed to simplify how banks and fintech companies manage their subscription-based services. It brings customers, subscription plans, billing, invoices, and payments together in one platform. Customers can choose a plan, manage their subscriptions, make payments, and view their billing history. Administrators can manage plans, customers, transactions, and revenue.</a:t>
            </a:r>
          </a:p>
          <a:p>
            <a:pPr algn="just"/>
            <a:r>
              <a:rPr lang="en-IN" sz="2400" dirty="0">
                <a:latin typeface="Times New Roman" panose="02020603050405020304" pitchFamily="18" charset="0"/>
                <a:cs typeface="Times New Roman" panose="02020603050405020304" pitchFamily="18" charset="0"/>
              </a:rPr>
              <a:t>The project also focuses on database management, backend development, and distributed systems. It uses databases such as PostgreSQL and MongoDB, along with backend APIs and microservices to make the system secure, reliable, and scalable. Overall, the project provides a practical solution for managing modern financial subscription and billing services.</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EXISTING SYSTEM</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Currently, many banks and fintech companies use separate systems for customer management, subscriptions, billing, and payment processing. These systems may work well individually, but managing information across multiple platforms can be difficult.</a:t>
            </a:r>
          </a:p>
          <a:p>
            <a:pPr algn="just"/>
            <a:r>
              <a:rPr lang="en-IN" dirty="0">
                <a:latin typeface="Times New Roman" panose="02020603050405020304" pitchFamily="18" charset="0"/>
                <a:cs typeface="Times New Roman" panose="02020603050405020304" pitchFamily="18" charset="0"/>
              </a:rPr>
              <a:t>Common limitations of existing systems include:</a:t>
            </a:r>
          </a:p>
          <a:p>
            <a:pPr lvl="0" algn="just"/>
            <a:r>
              <a:rPr lang="en-IN" dirty="0">
                <a:latin typeface="Times New Roman" panose="02020603050405020304" pitchFamily="18" charset="0"/>
                <a:cs typeface="Times New Roman" panose="02020603050405020304" pitchFamily="18" charset="0"/>
              </a:rPr>
              <a:t>Billing and subscription data may be stored in different systems. </a:t>
            </a:r>
          </a:p>
          <a:p>
            <a:pPr lvl="0" algn="just"/>
            <a:r>
              <a:rPr lang="en-IN" dirty="0">
                <a:latin typeface="Times New Roman" panose="02020603050405020304" pitchFamily="18" charset="0"/>
                <a:cs typeface="Times New Roman" panose="02020603050405020304" pitchFamily="18" charset="0"/>
              </a:rPr>
              <a:t>Manual handling of invoices and payment records can take time. </a:t>
            </a:r>
          </a:p>
          <a:p>
            <a:pPr lvl="0" algn="just"/>
            <a:r>
              <a:rPr lang="en-IN" dirty="0">
                <a:latin typeface="Times New Roman" panose="02020603050405020304" pitchFamily="18" charset="0"/>
                <a:cs typeface="Times New Roman" panose="02020603050405020304" pitchFamily="18" charset="0"/>
              </a:rPr>
              <a:t>Limited real-time tracking of subscription and payment status. </a:t>
            </a:r>
          </a:p>
          <a:p>
            <a:pPr lvl="0" algn="just"/>
            <a:r>
              <a:rPr lang="en-IN" dirty="0">
                <a:latin typeface="Times New Roman" panose="02020603050405020304" pitchFamily="18" charset="0"/>
                <a:cs typeface="Times New Roman" panose="02020603050405020304" pitchFamily="18" charset="0"/>
              </a:rPr>
              <a:t>Handling failed payments and retries can be complicated. </a:t>
            </a:r>
          </a:p>
          <a:p>
            <a:pPr lvl="0" algn="just"/>
            <a:r>
              <a:rPr lang="en-IN" dirty="0">
                <a:latin typeface="Times New Roman" panose="02020603050405020304" pitchFamily="18" charset="0"/>
                <a:cs typeface="Times New Roman" panose="02020603050405020304" pitchFamily="18" charset="0"/>
              </a:rPr>
              <a:t>Scaling the system when the number of customers increases can be difficult. </a:t>
            </a:r>
          </a:p>
          <a:p>
            <a:pPr lvl="0" algn="just"/>
            <a:r>
              <a:rPr lang="en-IN" dirty="0">
                <a:latin typeface="Times New Roman" panose="02020603050405020304" pitchFamily="18" charset="0"/>
                <a:cs typeface="Times New Roman" panose="02020603050405020304" pitchFamily="18" charset="0"/>
              </a:rPr>
              <a:t>Limited integration between different services and databases. </a:t>
            </a:r>
          </a:p>
          <a:p>
            <a:pPr lvl="0" algn="just"/>
            <a:r>
              <a:rPr lang="en-IN" dirty="0">
                <a:latin typeface="Times New Roman" panose="02020603050405020304" pitchFamily="18" charset="0"/>
                <a:cs typeface="Times New Roman" panose="02020603050405020304" pitchFamily="18" charset="0"/>
              </a:rPr>
              <a:t>Monitoring and tracking system failures may not be centralized.</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PROBLEM</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Banks and fintech companies handle a large number of </a:t>
            </a:r>
            <a:r>
              <a:rPr lang="en-IN" sz="2400" b="1" dirty="0">
                <a:latin typeface="Times New Roman" panose="02020603050405020304" pitchFamily="18" charset="0"/>
                <a:cs typeface="Times New Roman" panose="02020603050405020304" pitchFamily="18" charset="0"/>
              </a:rPr>
              <a:t>customers, subscriptions, invoices, and payments</a:t>
            </a:r>
            <a:r>
              <a:rPr lang="en-IN" sz="2400" dirty="0">
                <a:latin typeface="Times New Roman" panose="02020603050405020304" pitchFamily="18" charset="0"/>
                <a:cs typeface="Times New Roman" panose="02020603050405020304" pitchFamily="18" charset="0"/>
              </a:rPr>
              <a:t> every day. When these activities are managed through separate systems, it can lead to </a:t>
            </a:r>
            <a:r>
              <a:rPr lang="en-IN" sz="2400" b="1" dirty="0">
                <a:latin typeface="Times New Roman" panose="02020603050405020304" pitchFamily="18" charset="0"/>
                <a:cs typeface="Times New Roman" panose="02020603050405020304" pitchFamily="18" charset="0"/>
              </a:rPr>
              <a:t>data duplication, billing errors, delayed payment updates, and difficulty in tracking transactions</a:t>
            </a:r>
            <a:r>
              <a:rPr lang="en-IN" sz="2400" dirty="0">
                <a:latin typeface="Times New Roman" panose="02020603050405020304" pitchFamily="18" charset="0"/>
                <a:cs typeface="Times New Roman" panose="02020603050405020304" pitchFamily="18" charset="0"/>
              </a:rPr>
              <a:t>. There is also a need to handle </a:t>
            </a:r>
            <a:r>
              <a:rPr lang="en-IN" sz="2400" b="1" dirty="0">
                <a:latin typeface="Times New Roman" panose="02020603050405020304" pitchFamily="18" charset="0"/>
                <a:cs typeface="Times New Roman" panose="02020603050405020304" pitchFamily="18" charset="0"/>
              </a:rPr>
              <a:t>failed payments, subscription changes, security, and increasing numbers of users</a:t>
            </a:r>
            <a:r>
              <a:rPr lang="en-IN" sz="2400" dirty="0">
                <a:latin typeface="Times New Roman" panose="02020603050405020304" pitchFamily="18" charset="0"/>
                <a:cs typeface="Times New Roman" panose="02020603050405020304" pitchFamily="18" charset="0"/>
              </a:rPr>
              <a:t> efficiently. Traditional systems may not be flexible or scalable enough to manage these requirements.</a:t>
            </a:r>
          </a:p>
          <a:p>
            <a:r>
              <a:rPr lang="en-IN" sz="2400" dirty="0">
                <a:latin typeface="Times New Roman" panose="02020603050405020304" pitchFamily="18" charset="0"/>
                <a:cs typeface="Times New Roman" panose="02020603050405020304" pitchFamily="18" charset="0"/>
              </a:rPr>
              <a:t>Therefore, the main problem is to develop a </a:t>
            </a:r>
            <a:r>
              <a:rPr lang="en-IN" sz="2400" b="1" dirty="0">
                <a:latin typeface="Times New Roman" panose="02020603050405020304" pitchFamily="18" charset="0"/>
                <a:cs typeface="Times New Roman" panose="02020603050405020304" pitchFamily="18" charset="0"/>
              </a:rPr>
              <a:t>secure, reliable, and scalable subscription and billing system</a:t>
            </a:r>
            <a:r>
              <a:rPr lang="en-IN" sz="2400" dirty="0">
                <a:latin typeface="Times New Roman" panose="02020603050405020304" pitchFamily="18" charset="0"/>
                <a:cs typeface="Times New Roman" panose="02020603050405020304" pitchFamily="18" charset="0"/>
              </a:rPr>
              <a:t> that can manage customer subscriptions, billing, payments, and transactions efficiently while maintaining data consistency and supporting distributed services.</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SOLUTION</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Create one platform for </a:t>
            </a:r>
            <a:r>
              <a:rPr lang="en-IN" sz="2400" b="1" dirty="0">
                <a:latin typeface="Times New Roman" panose="02020603050405020304" pitchFamily="18" charset="0"/>
                <a:cs typeface="Times New Roman" panose="02020603050405020304" pitchFamily="18" charset="0"/>
              </a:rPr>
              <a:t>subscriptions, billing, and payments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PostgreSQL and MongoDB</a:t>
            </a:r>
            <a:r>
              <a:rPr lang="en-IN" sz="2400" dirty="0">
                <a:latin typeface="Times New Roman" panose="02020603050405020304" pitchFamily="18" charset="0"/>
                <a:cs typeface="Times New Roman" panose="02020603050405020304" pitchFamily="18" charset="0"/>
              </a:rPr>
              <a:t> to manage data efficiently.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for users, billing, payments, and notifications. </a:t>
            </a:r>
          </a:p>
          <a:p>
            <a:pPr lvl="0"/>
            <a:r>
              <a:rPr lang="en-IN" sz="2400" dirty="0">
                <a:latin typeface="Times New Roman" panose="02020603050405020304" pitchFamily="18" charset="0"/>
                <a:cs typeface="Times New Roman" panose="02020603050405020304" pitchFamily="18" charset="0"/>
              </a:rPr>
              <a:t>Provide </a:t>
            </a:r>
            <a:r>
              <a:rPr lang="en-IN" sz="2400" b="1" dirty="0">
                <a:latin typeface="Times New Roman" panose="02020603050405020304" pitchFamily="18" charset="0"/>
                <a:cs typeface="Times New Roman" panose="02020603050405020304" pitchFamily="18" charset="0"/>
              </a:rPr>
              <a:t>automatic invoices and payment tracking</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secure login and role-based access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Handle </a:t>
            </a:r>
            <a:r>
              <a:rPr lang="en-IN" sz="2400" b="1" dirty="0">
                <a:latin typeface="Times New Roman" panose="02020603050405020304" pitchFamily="18" charset="0"/>
                <a:cs typeface="Times New Roman" panose="02020603050405020304" pitchFamily="18" charset="0"/>
              </a:rPr>
              <a:t>failed payments and automatic retries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Provide an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to monitor customers and revenue. </a:t>
            </a:r>
          </a:p>
          <a:p>
            <a:pPr lvl="0"/>
            <a:r>
              <a:rPr lang="en-IN" sz="2400" dirty="0">
                <a:latin typeface="Times New Roman" panose="02020603050405020304" pitchFamily="18" charset="0"/>
                <a:cs typeface="Times New Roman" panose="02020603050405020304" pitchFamily="18" charset="0"/>
              </a:rPr>
              <a:t>Use </a:t>
            </a:r>
            <a:r>
              <a:rPr lang="en-IN" sz="2400" b="1" dirty="0">
                <a:latin typeface="Times New Roman" panose="02020603050405020304" pitchFamily="18" charset="0"/>
                <a:cs typeface="Times New Roman" panose="02020603050405020304" pitchFamily="18" charset="0"/>
              </a:rPr>
              <a:t>Docker and Kubernetes</a:t>
            </a:r>
            <a:r>
              <a:rPr lang="en-IN" sz="2400" dirty="0">
                <a:latin typeface="Times New Roman" panose="02020603050405020304" pitchFamily="18" charset="0"/>
                <a:cs typeface="Times New Roman" panose="02020603050405020304" pitchFamily="18" charset="0"/>
              </a:rPr>
              <a:t> for easy scaling and deployment.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monitoring and alerts</a:t>
            </a:r>
            <a:r>
              <a:rPr lang="en-IN" sz="2400" dirty="0">
                <a:latin typeface="Times New Roman" panose="02020603050405020304" pitchFamily="18" charset="0"/>
                <a:cs typeface="Times New Roman" panose="02020603050405020304" pitchFamily="18" charset="0"/>
              </a:rPr>
              <a:t> to quickly identify system issues.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latin typeface="Times New Roman" panose="02020603050405020304" pitchFamily="18" charset="0"/>
                <a:cs typeface="Times New Roman" panose="02020603050405020304" pitchFamily="18" charset="0"/>
              </a:rPr>
              <a:t>Objectives </a:t>
            </a:r>
            <a:endParaRPr lang="en-IN" sz="36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lvl="0" algn="just"/>
            <a:r>
              <a:rPr lang="en-IN" sz="2400" dirty="0">
                <a:latin typeface="Times New Roman" panose="02020603050405020304" pitchFamily="18" charset="0"/>
                <a:cs typeface="Times New Roman" panose="02020603050405020304" pitchFamily="18" charset="0"/>
              </a:rPr>
              <a:t>To develop a </a:t>
            </a:r>
            <a:r>
              <a:rPr lang="en-IN" sz="2400" b="1" dirty="0">
                <a:latin typeface="Times New Roman" panose="02020603050405020304" pitchFamily="18" charset="0"/>
                <a:cs typeface="Times New Roman" panose="02020603050405020304" pitchFamily="18" charset="0"/>
              </a:rPr>
              <a:t>simple and reliable platform</a:t>
            </a:r>
            <a:r>
              <a:rPr lang="en-IN" sz="2400" dirty="0">
                <a:latin typeface="Times New Roman" panose="02020603050405020304" pitchFamily="18" charset="0"/>
                <a:cs typeface="Times New Roman" panose="02020603050405020304" pitchFamily="18" charset="0"/>
              </a:rPr>
              <a:t> for managing subscriptions and billing. </a:t>
            </a:r>
          </a:p>
          <a:p>
            <a:pPr lvl="0" algn="just"/>
            <a:r>
              <a:rPr lang="en-IN" sz="2400" dirty="0">
                <a:latin typeface="Times New Roman" panose="02020603050405020304" pitchFamily="18" charset="0"/>
                <a:cs typeface="Times New Roman" panose="02020603050405020304" pitchFamily="18" charset="0"/>
              </a:rPr>
              <a:t>To securely manage </a:t>
            </a:r>
            <a:r>
              <a:rPr lang="en-IN" sz="2400" b="1" dirty="0">
                <a:latin typeface="Times New Roman" panose="02020603050405020304" pitchFamily="18" charset="0"/>
                <a:cs typeface="Times New Roman" panose="02020603050405020304" pitchFamily="18" charset="0"/>
              </a:rPr>
              <a:t>customer, payment, and transaction data</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automate </a:t>
            </a:r>
            <a:r>
              <a:rPr lang="en-IN" sz="2400" b="1" dirty="0">
                <a:latin typeface="Times New Roman" panose="02020603050405020304" pitchFamily="18" charset="0"/>
                <a:cs typeface="Times New Roman" panose="02020603050405020304" pitchFamily="18" charset="0"/>
              </a:rPr>
              <a:t>invoices, billing, and payment tracking</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use </a:t>
            </a:r>
            <a:r>
              <a:rPr lang="en-IN" sz="2400" b="1" dirty="0">
                <a:latin typeface="Times New Roman" panose="02020603050405020304" pitchFamily="18" charset="0"/>
                <a:cs typeface="Times New Roman" panose="02020603050405020304" pitchFamily="18" charset="0"/>
              </a:rPr>
              <a:t>microservices</a:t>
            </a:r>
            <a:r>
              <a:rPr lang="en-IN" sz="2400" dirty="0">
                <a:latin typeface="Times New Roman" panose="02020603050405020304" pitchFamily="18" charset="0"/>
                <a:cs typeface="Times New Roman" panose="02020603050405020304" pitchFamily="18" charset="0"/>
              </a:rPr>
              <a:t> for better performance and scalability. </a:t>
            </a:r>
          </a:p>
          <a:p>
            <a:pPr lvl="0" algn="just"/>
            <a:r>
              <a:rPr lang="en-IN" sz="2400" dirty="0">
                <a:latin typeface="Times New Roman" panose="02020603050405020304" pitchFamily="18" charset="0"/>
                <a:cs typeface="Times New Roman" panose="02020603050405020304" pitchFamily="18" charset="0"/>
              </a:rPr>
              <a:t>To provide </a:t>
            </a:r>
            <a:r>
              <a:rPr lang="en-IN" sz="2400" b="1" dirty="0">
                <a:latin typeface="Times New Roman" panose="02020603050405020304" pitchFamily="18" charset="0"/>
                <a:cs typeface="Times New Roman" panose="02020603050405020304" pitchFamily="18" charset="0"/>
              </a:rPr>
              <a:t>secure authentication and role-based access</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To handle </a:t>
            </a:r>
            <a:r>
              <a:rPr lang="en-IN" sz="2400" b="1" dirty="0">
                <a:latin typeface="Times New Roman" panose="02020603050405020304" pitchFamily="18" charset="0"/>
                <a:cs typeface="Times New Roman" panose="02020603050405020304" pitchFamily="18" charset="0"/>
              </a:rPr>
              <a:t>failed payments and subscription changes</a:t>
            </a:r>
            <a:r>
              <a:rPr lang="en-IN" sz="2400" dirty="0">
                <a:latin typeface="Times New Roman" panose="02020603050405020304" pitchFamily="18" charset="0"/>
                <a:cs typeface="Times New Roman" panose="02020603050405020304" pitchFamily="18" charset="0"/>
              </a:rPr>
              <a:t> efficiently. </a:t>
            </a:r>
          </a:p>
          <a:p>
            <a:pPr lvl="0" algn="just"/>
            <a:r>
              <a:rPr lang="en-IN" sz="2400" dirty="0">
                <a:latin typeface="Times New Roman" panose="02020603050405020304" pitchFamily="18" charset="0"/>
                <a:cs typeface="Times New Roman" panose="02020603050405020304" pitchFamily="18" charset="0"/>
              </a:rPr>
              <a:t>To provide an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for monitoring subscriptions and revenue. </a:t>
            </a:r>
          </a:p>
          <a:p>
            <a:pPr lvl="0" algn="just"/>
            <a:r>
              <a:rPr lang="en-IN" sz="2400" dirty="0">
                <a:latin typeface="Times New Roman" panose="02020603050405020304" pitchFamily="18" charset="0"/>
                <a:cs typeface="Times New Roman" panose="02020603050405020304" pitchFamily="18" charset="0"/>
              </a:rPr>
              <a:t>To use </a:t>
            </a:r>
            <a:r>
              <a:rPr lang="en-IN" sz="2400" b="1" dirty="0">
                <a:latin typeface="Times New Roman" panose="02020603050405020304" pitchFamily="18" charset="0"/>
                <a:cs typeface="Times New Roman" panose="02020603050405020304" pitchFamily="18" charset="0"/>
              </a:rPr>
              <a:t>Docker, Kubernetes, and monitoring tools</a:t>
            </a:r>
            <a:r>
              <a:rPr lang="en-IN" sz="2400" dirty="0">
                <a:latin typeface="Times New Roman" panose="02020603050405020304" pitchFamily="18" charset="0"/>
                <a:cs typeface="Times New Roman" panose="02020603050405020304" pitchFamily="18" charset="0"/>
              </a:rPr>
              <a:t> for reliable deployment. </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latin typeface="Times New Roman" panose="02020603050405020304" pitchFamily="18" charset="0"/>
                <a:cs typeface="Times New Roman" panose="02020603050405020304" pitchFamily="18" charset="0"/>
              </a:rPr>
              <a:t>Modules</a:t>
            </a:r>
            <a:endParaRPr lang="en-IN" sz="3600" dirty="0">
              <a:solidFill>
                <a:srgbClr val="0070C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77500" lnSpcReduction="20000"/>
          </a:bodyPr>
          <a:lstStyle/>
          <a:p>
            <a:pPr lvl="0"/>
            <a:r>
              <a:rPr lang="en-IN" b="1" dirty="0">
                <a:latin typeface="Times New Roman" panose="02020603050405020304" pitchFamily="18" charset="0"/>
                <a:cs typeface="Times New Roman" panose="02020603050405020304" pitchFamily="18" charset="0"/>
              </a:rPr>
              <a:t>Admin Module</a:t>
            </a:r>
            <a:r>
              <a:rPr lang="en-IN" dirty="0">
                <a:latin typeface="Times New Roman" panose="02020603050405020304" pitchFamily="18" charset="0"/>
                <a:cs typeface="Times New Roman" panose="02020603050405020304" pitchFamily="18" charset="0"/>
              </a:rPr>
              <a:t> – Manages customers, plans, payments, and overall system activities. </a:t>
            </a:r>
          </a:p>
          <a:p>
            <a:pPr lvl="0"/>
            <a:r>
              <a:rPr lang="en-IN" b="1" dirty="0">
                <a:latin typeface="Times New Roman" panose="02020603050405020304" pitchFamily="18" charset="0"/>
                <a:cs typeface="Times New Roman" panose="02020603050405020304" pitchFamily="18" charset="0"/>
              </a:rPr>
              <a:t>Customer Module</a:t>
            </a:r>
            <a:r>
              <a:rPr lang="en-IN" dirty="0">
                <a:latin typeface="Times New Roman" panose="02020603050405020304" pitchFamily="18" charset="0"/>
                <a:cs typeface="Times New Roman" panose="02020603050405020304" pitchFamily="18" charset="0"/>
              </a:rPr>
              <a:t> – Allows customers to manage their profile and account details. </a:t>
            </a:r>
          </a:p>
          <a:p>
            <a:pPr lvl="0"/>
            <a:r>
              <a:rPr lang="en-IN" b="1" dirty="0">
                <a:latin typeface="Times New Roman" panose="02020603050405020304" pitchFamily="18" charset="0"/>
                <a:cs typeface="Times New Roman" panose="02020603050405020304" pitchFamily="18" charset="0"/>
              </a:rPr>
              <a:t>Subscription Module</a:t>
            </a:r>
            <a:r>
              <a:rPr lang="en-IN" dirty="0">
                <a:latin typeface="Times New Roman" panose="02020603050405020304" pitchFamily="18" charset="0"/>
                <a:cs typeface="Times New Roman" panose="02020603050405020304" pitchFamily="18" charset="0"/>
              </a:rPr>
              <a:t> – Handles plan selection, subscription, renewal, upgrade, and cancellation. </a:t>
            </a:r>
          </a:p>
          <a:p>
            <a:pPr lvl="0"/>
            <a:r>
              <a:rPr lang="en-IN" b="1" dirty="0">
                <a:latin typeface="Times New Roman" panose="02020603050405020304" pitchFamily="18" charset="0"/>
                <a:cs typeface="Times New Roman" panose="02020603050405020304" pitchFamily="18" charset="0"/>
              </a:rPr>
              <a:t>Billing &amp; Invoice Module</a:t>
            </a:r>
            <a:r>
              <a:rPr lang="en-IN" dirty="0">
                <a:latin typeface="Times New Roman" panose="02020603050405020304" pitchFamily="18" charset="0"/>
                <a:cs typeface="Times New Roman" panose="02020603050405020304" pitchFamily="18" charset="0"/>
              </a:rPr>
              <a:t> – Generates bills and invoices and maintains billing history. </a:t>
            </a:r>
          </a:p>
          <a:p>
            <a:pPr lvl="0"/>
            <a:r>
              <a:rPr lang="en-IN" b="1" dirty="0">
                <a:latin typeface="Times New Roman" panose="02020603050405020304" pitchFamily="18" charset="0"/>
                <a:cs typeface="Times New Roman" panose="02020603050405020304" pitchFamily="18" charset="0"/>
              </a:rPr>
              <a:t>Payment Module</a:t>
            </a:r>
            <a:r>
              <a:rPr lang="en-IN" dirty="0">
                <a:latin typeface="Times New Roman" panose="02020603050405020304" pitchFamily="18" charset="0"/>
                <a:cs typeface="Times New Roman" panose="02020603050405020304" pitchFamily="18" charset="0"/>
              </a:rPr>
              <a:t> – Handles payments, failed transactions, retries, and refunds. </a:t>
            </a:r>
          </a:p>
          <a:p>
            <a:pPr lvl="0"/>
            <a:r>
              <a:rPr lang="en-IN" b="1" dirty="0">
                <a:latin typeface="Times New Roman" panose="02020603050405020304" pitchFamily="18" charset="0"/>
                <a:cs typeface="Times New Roman" panose="02020603050405020304" pitchFamily="18" charset="0"/>
              </a:rPr>
              <a:t>Notification Module</a:t>
            </a:r>
            <a:r>
              <a:rPr lang="en-IN" dirty="0">
                <a:latin typeface="Times New Roman" panose="02020603050405020304" pitchFamily="18" charset="0"/>
                <a:cs typeface="Times New Roman" panose="02020603050405020304" pitchFamily="18" charset="0"/>
              </a:rPr>
              <a:t> – Sends alerts for payments, invoices, renewals, and subscription updates. </a:t>
            </a:r>
          </a:p>
          <a:p>
            <a:pPr lvl="0"/>
            <a:r>
              <a:rPr lang="en-IN" b="1" dirty="0">
                <a:latin typeface="Times New Roman" panose="02020603050405020304" pitchFamily="18" charset="0"/>
                <a:cs typeface="Times New Roman" panose="02020603050405020304" pitchFamily="18" charset="0"/>
              </a:rPr>
              <a:t>Reports &amp; Analytics Module</a:t>
            </a:r>
            <a:r>
              <a:rPr lang="en-IN" dirty="0">
                <a:latin typeface="Times New Roman" panose="02020603050405020304" pitchFamily="18" charset="0"/>
                <a:cs typeface="Times New Roman" panose="02020603050405020304" pitchFamily="18" charset="0"/>
              </a:rPr>
              <a:t> – Shows revenue, subscriptions, payments, and customer activity. </a:t>
            </a:r>
          </a:p>
          <a:p>
            <a:pPr lvl="0"/>
            <a:r>
              <a:rPr lang="en-IN" b="1" dirty="0">
                <a:latin typeface="Times New Roman" panose="02020603050405020304" pitchFamily="18" charset="0"/>
                <a:cs typeface="Times New Roman" panose="02020603050405020304" pitchFamily="18" charset="0"/>
              </a:rPr>
              <a:t>Security Module</a:t>
            </a:r>
            <a:r>
              <a:rPr lang="en-IN" dirty="0">
                <a:latin typeface="Times New Roman" panose="02020603050405020304" pitchFamily="18" charset="0"/>
                <a:cs typeface="Times New Roman" panose="02020603050405020304" pitchFamily="18" charset="0"/>
              </a:rPr>
              <a:t> – Provides secure login, authentication, and role-based access.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a:xfrm>
            <a:off x="838200" y="62459"/>
            <a:ext cx="10515600" cy="1325563"/>
          </a:xfrm>
        </p:spPr>
        <p:txBody>
          <a:bodyPr>
            <a:normAutofit/>
          </a:bodyPr>
          <a:lstStyle/>
          <a:p>
            <a:pPr algn="ctr"/>
            <a:r>
              <a:rPr lang="en-IN" sz="3200" b="1" dirty="0">
                <a:solidFill>
                  <a:srgbClr val="0070C0"/>
                </a:solidFill>
                <a:latin typeface="Times New Roman" panose="02020603050405020304" pitchFamily="18" charset="0"/>
                <a:cs typeface="Times New Roman" panose="02020603050405020304" pitchFamily="18" charset="0"/>
              </a:rPr>
              <a:t>SOFTWARE REQUIREMENTS </a:t>
            </a:r>
            <a:endParaRPr lang="en-IN" sz="3200" dirty="0">
              <a:solidFill>
                <a:srgbClr val="0070C0"/>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7" name="Table 6">
            <a:extLst>
              <a:ext uri="{FF2B5EF4-FFF2-40B4-BE49-F238E27FC236}">
                <a16:creationId xmlns:a16="http://schemas.microsoft.com/office/drawing/2014/main" id="{F96D8A8F-8EA1-B098-1AAC-BA5890044D5C}"/>
              </a:ext>
            </a:extLst>
          </p:cNvPr>
          <p:cNvGraphicFramePr>
            <a:graphicFrameLocks noGrp="1"/>
          </p:cNvGraphicFramePr>
          <p:nvPr>
            <p:extLst>
              <p:ext uri="{D42A27DB-BD31-4B8C-83A1-F6EECF244321}">
                <p14:modId xmlns:p14="http://schemas.microsoft.com/office/powerpoint/2010/main" val="4260478362"/>
              </p:ext>
            </p:extLst>
          </p:nvPr>
        </p:nvGraphicFramePr>
        <p:xfrm>
          <a:off x="2654300" y="1256393"/>
          <a:ext cx="6788150" cy="5204097"/>
        </p:xfrm>
        <a:graphic>
          <a:graphicData uri="http://schemas.openxmlformats.org/drawingml/2006/table">
            <a:tbl>
              <a:tblPr firstRow="1" bandRow="1">
                <a:tableStyleId>{8799B23B-EC83-4686-B30A-512413B5E67A}</a:tableStyleId>
              </a:tblPr>
              <a:tblGrid>
                <a:gridCol w="3394075">
                  <a:extLst>
                    <a:ext uri="{9D8B030D-6E8A-4147-A177-3AD203B41FA5}">
                      <a16:colId xmlns:a16="http://schemas.microsoft.com/office/drawing/2014/main" val="2987966008"/>
                    </a:ext>
                  </a:extLst>
                </a:gridCol>
                <a:gridCol w="3394075">
                  <a:extLst>
                    <a:ext uri="{9D8B030D-6E8A-4147-A177-3AD203B41FA5}">
                      <a16:colId xmlns:a16="http://schemas.microsoft.com/office/drawing/2014/main" val="722834026"/>
                    </a:ext>
                  </a:extLst>
                </a:gridCol>
              </a:tblGrid>
              <a:tr h="540657">
                <a:tc>
                  <a:txBody>
                    <a:bodyPr/>
                    <a:lstStyle/>
                    <a:p>
                      <a:pPr algn="l"/>
                      <a:r>
                        <a:rPr lang="en-IN" sz="1400" b="1" dirty="0">
                          <a:latin typeface="Times New Roman" panose="02020603050405020304" pitchFamily="18" charset="0"/>
                          <a:cs typeface="Times New Roman" panose="02020603050405020304" pitchFamily="18" charset="0"/>
                        </a:rPr>
                        <a:t>Frontend Technologies</a:t>
                      </a:r>
                      <a:endParaRPr lang="en-IN" sz="1400" dirty="0"/>
                    </a:p>
                  </a:txBody>
                  <a:tcPr/>
                </a:tc>
                <a:tc>
                  <a:txBody>
                    <a:bodyPr/>
                    <a:lstStyle/>
                    <a:p>
                      <a:pPr algn="l"/>
                      <a:r>
                        <a:rPr lang="en-IN" sz="1400" b="0" dirty="0">
                          <a:latin typeface="Times New Roman" panose="02020603050405020304" pitchFamily="18" charset="0"/>
                          <a:cs typeface="Times New Roman" panose="02020603050405020304" pitchFamily="18" charset="0"/>
                        </a:rPr>
                        <a:t>HTML5, CSS3, JavaScript, and React.js for creating the user and admin interfaces. </a:t>
                      </a:r>
                      <a:endParaRPr lang="en-IN" sz="1400" b="0" dirty="0"/>
                    </a:p>
                  </a:txBody>
                  <a:tcPr/>
                </a:tc>
                <a:extLst>
                  <a:ext uri="{0D108BD9-81ED-4DB2-BD59-A6C34878D82A}">
                    <a16:rowId xmlns:a16="http://schemas.microsoft.com/office/drawing/2014/main" val="1455679188"/>
                  </a:ext>
                </a:extLst>
              </a:tr>
              <a:tr h="517742">
                <a:tc>
                  <a:txBody>
                    <a:bodyPr/>
                    <a:lstStyle/>
                    <a:p>
                      <a:pPr algn="l"/>
                      <a:r>
                        <a:rPr lang="en-IN" sz="1400" b="1" dirty="0">
                          <a:latin typeface="Times New Roman" panose="02020603050405020304" pitchFamily="18" charset="0"/>
                          <a:cs typeface="Times New Roman" panose="02020603050405020304" pitchFamily="18" charset="0"/>
                        </a:rPr>
                        <a:t>Backend Technologies</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Python and </a:t>
                      </a:r>
                      <a:r>
                        <a:rPr lang="en-IN" sz="1400" dirty="0" err="1">
                          <a:latin typeface="Times New Roman" panose="02020603050405020304" pitchFamily="18" charset="0"/>
                          <a:cs typeface="Times New Roman" panose="02020603050405020304" pitchFamily="18" charset="0"/>
                        </a:rPr>
                        <a:t>FastAPI</a:t>
                      </a:r>
                      <a:r>
                        <a:rPr lang="en-IN" sz="1400" dirty="0">
                          <a:latin typeface="Times New Roman" panose="02020603050405020304" pitchFamily="18" charset="0"/>
                          <a:cs typeface="Times New Roman" panose="02020603050405020304" pitchFamily="18" charset="0"/>
                        </a:rPr>
                        <a:t> for developing secure and scalable REST APIs. </a:t>
                      </a:r>
                      <a:endParaRPr lang="en-IN" sz="1400" dirty="0"/>
                    </a:p>
                  </a:txBody>
                  <a:tcPr/>
                </a:tc>
                <a:extLst>
                  <a:ext uri="{0D108BD9-81ED-4DB2-BD59-A6C34878D82A}">
                    <a16:rowId xmlns:a16="http://schemas.microsoft.com/office/drawing/2014/main" val="3591714555"/>
                  </a:ext>
                </a:extLst>
              </a:tr>
              <a:tr h="517742">
                <a:tc>
                  <a:txBody>
                    <a:bodyPr/>
                    <a:lstStyle/>
                    <a:p>
                      <a:pPr algn="l"/>
                      <a:r>
                        <a:rPr lang="en-IN" sz="1400" b="1" dirty="0">
                          <a:latin typeface="Times New Roman" panose="02020603050405020304" pitchFamily="18" charset="0"/>
                          <a:cs typeface="Times New Roman" panose="02020603050405020304" pitchFamily="18" charset="0"/>
                        </a:rPr>
                        <a:t>Database</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PostgreSQL for customer, subscription, billing, and payment data. </a:t>
                      </a:r>
                      <a:endParaRPr lang="en-IN" sz="1400" dirty="0"/>
                    </a:p>
                  </a:txBody>
                  <a:tcPr/>
                </a:tc>
                <a:extLst>
                  <a:ext uri="{0D108BD9-81ED-4DB2-BD59-A6C34878D82A}">
                    <a16:rowId xmlns:a16="http://schemas.microsoft.com/office/drawing/2014/main" val="2311079343"/>
                  </a:ext>
                </a:extLst>
              </a:tr>
              <a:tr h="517742">
                <a:tc>
                  <a:txBody>
                    <a:bodyPr/>
                    <a:lstStyle/>
                    <a:p>
                      <a:pPr algn="l"/>
                      <a:r>
                        <a:rPr lang="en-IN" sz="1400" b="1" dirty="0">
                          <a:latin typeface="Times New Roman" panose="02020603050405020304" pitchFamily="18" charset="0"/>
                          <a:cs typeface="Times New Roman" panose="02020603050405020304" pitchFamily="18" charset="0"/>
                        </a:rPr>
                        <a:t>NoSQL Database</a:t>
                      </a:r>
                      <a:endParaRPr lang="en-IN" sz="1400" dirty="0"/>
                    </a:p>
                  </a:txBody>
                  <a:tcPr/>
                </a:tc>
                <a:tc>
                  <a:txBody>
                    <a:bodyPr/>
                    <a:lstStyle/>
                    <a:p>
                      <a:pPr algn="l"/>
                      <a:r>
                        <a:rPr lang="en-IN" sz="1400" dirty="0">
                          <a:latin typeface="Times New Roman" panose="02020603050405020304" pitchFamily="18" charset="0"/>
                          <a:cs typeface="Times New Roman" panose="02020603050405020304" pitchFamily="18" charset="0"/>
                        </a:rPr>
                        <a:t>MongoDB for usage records, activity logs, and notification data. </a:t>
                      </a:r>
                      <a:endParaRPr lang="en-IN" sz="1400" dirty="0"/>
                    </a:p>
                  </a:txBody>
                  <a:tcPr/>
                </a:tc>
                <a:extLst>
                  <a:ext uri="{0D108BD9-81ED-4DB2-BD59-A6C34878D82A}">
                    <a16:rowId xmlns:a16="http://schemas.microsoft.com/office/drawing/2014/main" val="2082139378"/>
                  </a:ext>
                </a:extLst>
              </a:tr>
              <a:tr h="517742">
                <a:tc>
                  <a:txBody>
                    <a:bodyPr/>
                    <a:lstStyle/>
                    <a:p>
                      <a:pPr algn="l"/>
                      <a:r>
                        <a:rPr lang="en-IN" sz="1400" b="1" dirty="0">
                          <a:latin typeface="Times New Roman" panose="02020603050405020304" pitchFamily="18" charset="0"/>
                          <a:cs typeface="Times New Roman" panose="02020603050405020304" pitchFamily="18" charset="0"/>
                        </a:rPr>
                        <a:t>API Testing</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Postman for testing and verifying backend APIs. </a:t>
                      </a:r>
                    </a:p>
                  </a:txBody>
                  <a:tcPr/>
                </a:tc>
                <a:extLst>
                  <a:ext uri="{0D108BD9-81ED-4DB2-BD59-A6C34878D82A}">
                    <a16:rowId xmlns:a16="http://schemas.microsoft.com/office/drawing/2014/main" val="2270355946"/>
                  </a:ext>
                </a:extLst>
              </a:tr>
              <a:tr h="517742">
                <a:tc>
                  <a:txBody>
                    <a:bodyPr/>
                    <a:lstStyle/>
                    <a:p>
                      <a:pPr algn="l"/>
                      <a:r>
                        <a:rPr lang="en-IN" sz="1400" b="1" dirty="0">
                          <a:latin typeface="Times New Roman" panose="02020603050405020304" pitchFamily="18" charset="0"/>
                          <a:cs typeface="Times New Roman" panose="02020603050405020304" pitchFamily="18" charset="0"/>
                        </a:rPr>
                        <a:t>Authentication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JWT and OAuth2 for secure user login and access control.</a:t>
                      </a:r>
                    </a:p>
                  </a:txBody>
                  <a:tcPr/>
                </a:tc>
                <a:extLst>
                  <a:ext uri="{0D108BD9-81ED-4DB2-BD59-A6C34878D82A}">
                    <a16:rowId xmlns:a16="http://schemas.microsoft.com/office/drawing/2014/main" val="3193088487"/>
                  </a:ext>
                </a:extLst>
              </a:tr>
              <a:tr h="517742">
                <a:tc>
                  <a:txBody>
                    <a:bodyPr/>
                    <a:lstStyle/>
                    <a:p>
                      <a:pPr algn="l"/>
                      <a:r>
                        <a:rPr lang="en-IN" sz="1400" b="1" dirty="0">
                          <a:latin typeface="Times New Roman" panose="02020603050405020304" pitchFamily="18" charset="0"/>
                          <a:cs typeface="Times New Roman" panose="02020603050405020304" pitchFamily="18" charset="0"/>
                        </a:rPr>
                        <a:t>Version Control</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Git and GitHub for managing source code and team collaboration. </a:t>
                      </a:r>
                    </a:p>
                  </a:txBody>
                  <a:tcPr/>
                </a:tc>
                <a:extLst>
                  <a:ext uri="{0D108BD9-81ED-4DB2-BD59-A6C34878D82A}">
                    <a16:rowId xmlns:a16="http://schemas.microsoft.com/office/drawing/2014/main" val="3342175342"/>
                  </a:ext>
                </a:extLst>
              </a:tr>
              <a:tr h="517742">
                <a:tc>
                  <a:txBody>
                    <a:bodyPr/>
                    <a:lstStyle/>
                    <a:p>
                      <a:pPr algn="l"/>
                      <a:r>
                        <a:rPr lang="en-IN" sz="1400" b="1" dirty="0">
                          <a:latin typeface="Times New Roman" panose="02020603050405020304" pitchFamily="18" charset="0"/>
                          <a:cs typeface="Times New Roman" panose="02020603050405020304" pitchFamily="18" charset="0"/>
                        </a:rPr>
                        <a:t>Containerization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Docker and Docker Compose for running the application and its services. </a:t>
                      </a:r>
                    </a:p>
                  </a:txBody>
                  <a:tcPr/>
                </a:tc>
                <a:extLst>
                  <a:ext uri="{0D108BD9-81ED-4DB2-BD59-A6C34878D82A}">
                    <a16:rowId xmlns:a16="http://schemas.microsoft.com/office/drawing/2014/main" val="1309485538"/>
                  </a:ext>
                </a:extLst>
              </a:tr>
              <a:tr h="517742">
                <a:tc>
                  <a:txBody>
                    <a:bodyPr/>
                    <a:lstStyle/>
                    <a:p>
                      <a:pPr algn="l"/>
                      <a:r>
                        <a:rPr lang="en-IN" sz="1400" b="1" dirty="0">
                          <a:latin typeface="Times New Roman" panose="02020603050405020304" pitchFamily="18" charset="0"/>
                          <a:cs typeface="Times New Roman" panose="02020603050405020304" pitchFamily="18" charset="0"/>
                        </a:rPr>
                        <a:t>Container Orchestration</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Kubernetes for managing and scaling microservices. </a:t>
                      </a:r>
                    </a:p>
                  </a:txBody>
                  <a:tcPr/>
                </a:tc>
                <a:extLst>
                  <a:ext uri="{0D108BD9-81ED-4DB2-BD59-A6C34878D82A}">
                    <a16:rowId xmlns:a16="http://schemas.microsoft.com/office/drawing/2014/main" val="3239244675"/>
                  </a:ext>
                </a:extLst>
              </a:tr>
              <a:tr h="517742">
                <a:tc>
                  <a:txBody>
                    <a:bodyPr/>
                    <a:lstStyle/>
                    <a:p>
                      <a:pPr algn="l"/>
                      <a:r>
                        <a:rPr lang="en-IN" sz="1400" b="1" dirty="0">
                          <a:latin typeface="Times New Roman" panose="02020603050405020304" pitchFamily="18" charset="0"/>
                          <a:cs typeface="Times New Roman" panose="02020603050405020304" pitchFamily="18" charset="0"/>
                        </a:rPr>
                        <a:t>Monitoring</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Prometheus and Grafana for monitoring system performance and service health.</a:t>
                      </a:r>
                    </a:p>
                  </a:txBody>
                  <a:tcPr/>
                </a:tc>
                <a:extLst>
                  <a:ext uri="{0D108BD9-81ED-4DB2-BD59-A6C34878D82A}">
                    <a16:rowId xmlns:a16="http://schemas.microsoft.com/office/drawing/2014/main" val="182345311"/>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71CB0-7565-6E5D-8338-C33D9D5B0617}"/>
              </a:ext>
            </a:extLst>
          </p:cNvPr>
          <p:cNvSpPr>
            <a:spLocks noGrp="1"/>
          </p:cNvSpPr>
          <p:nvPr>
            <p:ph type="title"/>
          </p:nvPr>
        </p:nvSpPr>
        <p:spPr>
          <a:xfrm>
            <a:off x="838200" y="483313"/>
            <a:ext cx="10515600" cy="1325563"/>
          </a:xfrm>
        </p:spPr>
        <p:txBody>
          <a:bodyPr>
            <a:normAutofit/>
          </a:bodyPr>
          <a:lstStyle/>
          <a:p>
            <a:pPr algn="ctr"/>
            <a:r>
              <a:rPr lang="en-US" sz="3600" b="1" dirty="0">
                <a:solidFill>
                  <a:srgbClr val="0070C0"/>
                </a:solidFill>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5A0451-FADB-BA37-DE69-2A70B841BC59}"/>
              </a:ext>
            </a:extLst>
          </p:cNvPr>
          <p:cNvSpPr>
            <a:spLocks noGrp="1"/>
          </p:cNvSpPr>
          <p:nvPr>
            <p:ph idx="1"/>
          </p:nvPr>
        </p:nvSpPr>
        <p:spPr>
          <a:xfrm>
            <a:off x="838200" y="2241063"/>
            <a:ext cx="10515600" cy="4351338"/>
          </a:xfrm>
        </p:spPr>
        <p:txBody>
          <a:bodyPr>
            <a:normAutofit/>
          </a:bodyPr>
          <a:lstStyle/>
          <a:p>
            <a:pPr algn="just"/>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Subscription and Billing SaaS for Banking and Fintech</a:t>
            </a:r>
            <a:r>
              <a:rPr lang="en-IN" sz="2400" dirty="0">
                <a:latin typeface="Times New Roman" panose="02020603050405020304" pitchFamily="18" charset="0"/>
                <a:cs typeface="Times New Roman" panose="02020603050405020304" pitchFamily="18" charset="0"/>
              </a:rPr>
              <a:t> provides a simple and efficient way to manage customers, subscriptions, billing, invoices, and payments in one platform. By using </a:t>
            </a:r>
            <a:r>
              <a:rPr lang="en-IN" sz="2400" b="1" dirty="0">
                <a:latin typeface="Times New Roman" panose="02020603050405020304" pitchFamily="18" charset="0"/>
                <a:cs typeface="Times New Roman" panose="02020603050405020304" pitchFamily="18" charset="0"/>
              </a:rPr>
              <a:t>PostgreSQL, MongoDB, </a:t>
            </a:r>
            <a:r>
              <a:rPr lang="en-IN" sz="2400" b="1" dirty="0" err="1">
                <a:latin typeface="Times New Roman" panose="02020603050405020304" pitchFamily="18" charset="0"/>
                <a:cs typeface="Times New Roman" panose="02020603050405020304" pitchFamily="18" charset="0"/>
              </a:rPr>
              <a:t>FastAPI</a:t>
            </a:r>
            <a:r>
              <a:rPr lang="en-IN" sz="2400" b="1" dirty="0">
                <a:latin typeface="Times New Roman" panose="02020603050405020304" pitchFamily="18" charset="0"/>
                <a:cs typeface="Times New Roman" panose="02020603050405020304" pitchFamily="18" charset="0"/>
              </a:rPr>
              <a:t>, and microservices</a:t>
            </a:r>
            <a:r>
              <a:rPr lang="en-IN" sz="2400" dirty="0">
                <a:latin typeface="Times New Roman" panose="02020603050405020304" pitchFamily="18" charset="0"/>
                <a:cs typeface="Times New Roman" panose="02020603050405020304" pitchFamily="18" charset="0"/>
              </a:rPr>
              <a:t>, the system can handle data securely and support a growing number of users. Features such as authentication, payment tracking, automatic billing, and monitoring make the system more reliable and suitable for fintech applications.</a:t>
            </a:r>
          </a:p>
          <a:p>
            <a:pPr algn="just"/>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2DAD0A1-D883-3FA7-0015-8396F9522C38}"/>
              </a:ext>
            </a:extLst>
          </p:cNvPr>
          <p:cNvSpPr>
            <a:spLocks noGrp="1"/>
          </p:cNvSpPr>
          <p:nvPr>
            <p:ph type="dt" sz="half" idx="10"/>
          </p:nvPr>
        </p:nvSpPr>
        <p:spPr/>
        <p:txBody>
          <a:bodyPr/>
          <a:lstStyle/>
          <a:p>
            <a:fld id="{3C447009-55DF-4EA5-900B-29AFB7C8438A}" type="datetime1">
              <a:rPr lang="en-IN" smtClean="0"/>
              <a:t>18-08-2026</a:t>
            </a:fld>
            <a:endParaRPr lang="en-US" dirty="0"/>
          </a:p>
        </p:txBody>
      </p:sp>
      <p:sp>
        <p:nvSpPr>
          <p:cNvPr id="5" name="Footer Placeholder 4">
            <a:extLst>
              <a:ext uri="{FF2B5EF4-FFF2-40B4-BE49-F238E27FC236}">
                <a16:creationId xmlns:a16="http://schemas.microsoft.com/office/drawing/2014/main" id="{72BC6617-9F40-03D7-E94A-09C14C4640A0}"/>
              </a:ext>
            </a:extLst>
          </p:cNvPr>
          <p:cNvSpPr>
            <a:spLocks noGrp="1"/>
          </p:cNvSpPr>
          <p:nvPr>
            <p:ph type="ftr" sz="quarter" idx="11"/>
          </p:nvPr>
        </p:nvSpPr>
        <p:spPr/>
        <p:txBody>
          <a:bodyPr/>
          <a:lstStyle/>
          <a:p>
            <a:r>
              <a:rPr lang="en-US" dirty="0"/>
              <a:t>1st REVIEW           </a:t>
            </a:r>
          </a:p>
        </p:txBody>
      </p:sp>
      <p:sp>
        <p:nvSpPr>
          <p:cNvPr id="6" name="Slide Number Placeholder 5">
            <a:extLst>
              <a:ext uri="{FF2B5EF4-FFF2-40B4-BE49-F238E27FC236}">
                <a16:creationId xmlns:a16="http://schemas.microsoft.com/office/drawing/2014/main" id="{6BBE8A9B-62EE-C3A5-34A4-B6843F94ECE3}"/>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92754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FEB1-7A8E-B35F-E946-E21040782090}"/>
              </a:ext>
            </a:extLst>
          </p:cNvPr>
          <p:cNvSpPr>
            <a:spLocks noGrp="1"/>
          </p:cNvSpPr>
          <p:nvPr>
            <p:ph type="title"/>
          </p:nvPr>
        </p:nvSpPr>
        <p:spPr/>
        <p:txBody>
          <a:bodyPr/>
          <a:lstStyle/>
          <a:p>
            <a:pPr algn="ctr"/>
            <a:r>
              <a:rPr lang="en-US" b="1" dirty="0">
                <a:solidFill>
                  <a:srgbClr val="0070C0"/>
                </a:solidFill>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D07EDF-6F9C-BAF5-8960-D0D0197E5557}"/>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AI-based financial and billing assistance</a:t>
            </a:r>
            <a:r>
              <a:rPr lang="en-IN" sz="2400" dirty="0">
                <a:latin typeface="Times New Roman" panose="02020603050405020304" pitchFamily="18" charset="0"/>
                <a:cs typeface="Times New Roman" panose="02020603050405020304" pitchFamily="18" charset="0"/>
              </a:rPr>
              <a:t> for customers. </a:t>
            </a:r>
          </a:p>
          <a:p>
            <a:pPr lvl="0"/>
            <a:r>
              <a:rPr lang="en-IN" sz="2400" dirty="0">
                <a:latin typeface="Times New Roman" panose="02020603050405020304" pitchFamily="18" charset="0"/>
                <a:cs typeface="Times New Roman" panose="02020603050405020304" pitchFamily="18" charset="0"/>
              </a:rPr>
              <a:t>Integrate with </a:t>
            </a:r>
            <a:r>
              <a:rPr lang="en-IN" sz="2400" b="1" dirty="0">
                <a:latin typeface="Times New Roman" panose="02020603050405020304" pitchFamily="18" charset="0"/>
                <a:cs typeface="Times New Roman" panose="02020603050405020304" pitchFamily="18" charset="0"/>
              </a:rPr>
              <a:t>real payment gateways</a:t>
            </a:r>
            <a:r>
              <a:rPr lang="en-IN" sz="2400" dirty="0">
                <a:latin typeface="Times New Roman" panose="02020603050405020304" pitchFamily="18" charset="0"/>
                <a:cs typeface="Times New Roman" panose="02020603050405020304" pitchFamily="18" charset="0"/>
              </a:rPr>
              <a:t> for real-time transactions. </a:t>
            </a:r>
          </a:p>
          <a:p>
            <a:pPr lvl="0"/>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mobile applications</a:t>
            </a:r>
            <a:r>
              <a:rPr lang="en-IN" sz="2400" dirty="0">
                <a:latin typeface="Times New Roman" panose="02020603050405020304" pitchFamily="18" charset="0"/>
                <a:cs typeface="Times New Roman" panose="02020603050405020304" pitchFamily="18" charset="0"/>
              </a:rPr>
              <a:t> for Android and iOS. </a:t>
            </a:r>
          </a:p>
          <a:p>
            <a:pPr lvl="0"/>
            <a:r>
              <a:rPr lang="en-IN" sz="2400" dirty="0">
                <a:latin typeface="Times New Roman" panose="02020603050405020304" pitchFamily="18" charset="0"/>
                <a:cs typeface="Times New Roman" panose="02020603050405020304" pitchFamily="18" charset="0"/>
              </a:rPr>
              <a:t>Improve fraud detection using </a:t>
            </a:r>
            <a:r>
              <a:rPr lang="en-IN" sz="2400" b="1" dirty="0">
                <a:latin typeface="Times New Roman" panose="02020603050405020304" pitchFamily="18" charset="0"/>
                <a:cs typeface="Times New Roman" panose="02020603050405020304" pitchFamily="18" charset="0"/>
              </a:rPr>
              <a:t>Machine Learning</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Support </a:t>
            </a:r>
            <a:r>
              <a:rPr lang="en-IN" sz="2400" b="1" dirty="0">
                <a:latin typeface="Times New Roman" panose="02020603050405020304" pitchFamily="18" charset="0"/>
                <a:cs typeface="Times New Roman" panose="02020603050405020304" pitchFamily="18" charset="0"/>
              </a:rPr>
              <a:t>multiple currencies and international payments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Add advanced </a:t>
            </a:r>
            <a:r>
              <a:rPr lang="en-IN" sz="2400" b="1" dirty="0">
                <a:latin typeface="Times New Roman" panose="02020603050405020304" pitchFamily="18" charset="0"/>
                <a:cs typeface="Times New Roman" panose="02020603050405020304" pitchFamily="18" charset="0"/>
              </a:rPr>
              <a:t>revenue and customer analytics</a:t>
            </a:r>
            <a:r>
              <a:rPr lang="en-IN" sz="2400" dirty="0">
                <a:latin typeface="Times New Roman" panose="02020603050405020304" pitchFamily="18" charset="0"/>
                <a:cs typeface="Times New Roman" panose="02020603050405020304" pitchFamily="18" charset="0"/>
              </a:rPr>
              <a:t>. </a:t>
            </a:r>
          </a:p>
          <a:p>
            <a:pPr lvl="0"/>
            <a:r>
              <a:rPr lang="en-IN" sz="2400" dirty="0">
                <a:latin typeface="Times New Roman" panose="02020603050405020304" pitchFamily="18" charset="0"/>
                <a:cs typeface="Times New Roman" panose="02020603050405020304" pitchFamily="18" charset="0"/>
              </a:rPr>
              <a:t>Deploy the system on </a:t>
            </a:r>
            <a:r>
              <a:rPr lang="en-IN" sz="2400" b="1" dirty="0">
                <a:latin typeface="Times New Roman" panose="02020603050405020304" pitchFamily="18" charset="0"/>
                <a:cs typeface="Times New Roman" panose="02020603050405020304" pitchFamily="18" charset="0"/>
              </a:rPr>
              <a:t>AWS, Azure, or Google Cloud</a:t>
            </a:r>
            <a:r>
              <a:rPr lang="en-IN" sz="2400" dirty="0">
                <a:latin typeface="Times New Roman" panose="02020603050405020304" pitchFamily="18" charset="0"/>
                <a:cs typeface="Times New Roman" panose="02020603050405020304" pitchFamily="18" charset="0"/>
              </a:rPr>
              <a:t> for large-scale usage. </a:t>
            </a:r>
          </a:p>
          <a:p>
            <a:pPr lvl="0"/>
            <a:r>
              <a:rPr lang="en-IN" sz="2400" dirty="0">
                <a:latin typeface="Times New Roman" panose="02020603050405020304" pitchFamily="18" charset="0"/>
                <a:cs typeface="Times New Roman" panose="02020603050405020304" pitchFamily="18" charset="0"/>
              </a:rPr>
              <a:t>Improve automation using </a:t>
            </a:r>
            <a:r>
              <a:rPr lang="en-IN" sz="2400" b="1" dirty="0">
                <a:latin typeface="Times New Roman" panose="02020603050405020304" pitchFamily="18" charset="0"/>
                <a:cs typeface="Times New Roman" panose="02020603050405020304" pitchFamily="18" charset="0"/>
              </a:rPr>
              <a:t>AI-based billing and payment predictions</a:t>
            </a:r>
            <a:r>
              <a:rPr lang="en-IN"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3B23D4E-6C5F-FC81-3F43-062A702F33A5}"/>
              </a:ext>
            </a:extLst>
          </p:cNvPr>
          <p:cNvSpPr>
            <a:spLocks noGrp="1"/>
          </p:cNvSpPr>
          <p:nvPr>
            <p:ph type="dt" sz="half" idx="10"/>
          </p:nvPr>
        </p:nvSpPr>
        <p:spPr/>
        <p:txBody>
          <a:bodyPr/>
          <a:lstStyle/>
          <a:p>
            <a:fld id="{3C447009-55DF-4EA5-900B-29AFB7C8438A}" type="datetime1">
              <a:rPr lang="en-IN" smtClean="0"/>
              <a:t>18-08-2026</a:t>
            </a:fld>
            <a:endParaRPr lang="en-US"/>
          </a:p>
        </p:txBody>
      </p:sp>
      <p:sp>
        <p:nvSpPr>
          <p:cNvPr id="5" name="Footer Placeholder 4">
            <a:extLst>
              <a:ext uri="{FF2B5EF4-FFF2-40B4-BE49-F238E27FC236}">
                <a16:creationId xmlns:a16="http://schemas.microsoft.com/office/drawing/2014/main" id="{31387A5C-D3A4-A6D7-61C8-7F5E19762D4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D752B865-AF9E-787C-637A-9EDC801A8C3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73724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lgn="ctr">
              <a:buNone/>
            </a:pP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44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8316</TotalTime>
  <Words>1276</Words>
  <Application>Microsoft Office PowerPoint</Application>
  <PresentationFormat>Widescreen</PresentationFormat>
  <Paragraphs>151</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Custom Design</vt:lpstr>
      <vt:lpstr> 1st  REVIEW  Subscription and Billing SAAS For Banking and Fintech </vt:lpstr>
      <vt:lpstr>GROUP NUMBER:18</vt:lpstr>
      <vt:lpstr>ABSTRACT</vt:lpstr>
      <vt:lpstr>INTRDOUCTION</vt:lpstr>
      <vt:lpstr>EXISTING SYSTEM</vt:lpstr>
      <vt:lpstr>PROBLEM</vt:lpstr>
      <vt:lpstr>SOLUTION</vt:lpstr>
      <vt:lpstr>Objectives </vt:lpstr>
      <vt:lpstr>Modules</vt:lpstr>
      <vt:lpstr>SOFTWARE REQUIREMENTS </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Venkat Sai Krishna</cp:lastModifiedBy>
  <cp:revision>100</cp:revision>
  <dcterms:created xsi:type="dcterms:W3CDTF">2022-05-20T10:20:31Z</dcterms:created>
  <dcterms:modified xsi:type="dcterms:W3CDTF">2026-08-18T08:37:44Z</dcterms:modified>
</cp:coreProperties>
</file>