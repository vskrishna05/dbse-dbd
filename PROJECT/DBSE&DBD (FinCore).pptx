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31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the team, guides and department. This project covers a subscription and billing platform for banking and fintech.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Banking and fintech companies run many connected activities. Disconnected workflows make consistent records and tracking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problems quickly and end on the highlighted need for a centralized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proposed solution is one centralized platform connecting customer, lending, subscription, billing, support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objectives: centralization, multi-tenancy, lending, billing, security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and company administrators use separate interfaces. Requests pass through the gateway to FastAPI services and then to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layers: user, frontend, API gateway, backend services, data access and database. Mention the twelve backend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ER design with twenty entities grouped into five logical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customer from registration to repayment and billing. Blue steps are customer actions, green steps are administrator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Loan lifecycle from application to completion, with the key financial operations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Billing flow from plan to refund, with the operations the platform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company works inside its own tenant context. Then list the security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scope items are planned and not yet implemented. Close with the conclusion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023360" y="640080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L (Deemed to be) University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93726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 AND BILLING SaaS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BANKING AND FINTECH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2606040"/>
          <a:ext cx="6336792" cy="115214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Venkata Sai Krishna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2520030027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Pujith Pavan Kumar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2520030029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Srivarun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2520030324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31520" y="3931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25196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S. Spandana</a:t>
            </a:r>
          </a:p>
          <a:p>
            <a:pPr algn="ctr"/>
            <a:r>
              <a:rPr lang="en-US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Yerragudipadu Subbarayudu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50292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53492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L (Deemed to be) University</a:t>
            </a:r>
            <a:endParaRPr lang="en-US" sz="1700" dirty="0"/>
          </a:p>
        </p:txBody>
      </p:sp>
      <p:pic>
        <p:nvPicPr>
          <p:cNvPr id="1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5715000"/>
            <a:ext cx="1463040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NEED FOR INTEGRATED FINANCIAL OPERATIONS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258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Banking and fintech companies manage several connected activities every day. When these run in disconnected workflows, it becomes difficult to keep information consistent and to track financial operations efficiently.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Connected Activities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1892808" cy="6858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619756" y="3200400"/>
            <a:ext cx="1892808" cy="6858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90872" y="3200400"/>
            <a:ext cx="1892808" cy="6858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4069080"/>
            <a:ext cx="1892808" cy="6858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619756" y="4069080"/>
            <a:ext cx="1892808" cy="6858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Repayments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90872" y="4069080"/>
            <a:ext cx="1892808" cy="6858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4937760"/>
            <a:ext cx="1892808" cy="6858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19756" y="4937760"/>
            <a:ext cx="1892808" cy="6858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90872" y="4937760"/>
            <a:ext cx="1892808" cy="6858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80960" y="1325880"/>
            <a:ext cx="384048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601200" y="1801368"/>
            <a:ext cx="0" cy="219456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7680960" y="2020824"/>
            <a:ext cx="384048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Plans &amp; Subscriptions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496312"/>
            <a:ext cx="0" cy="219456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7680960" y="2715768"/>
            <a:ext cx="384048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601200" y="3191256"/>
            <a:ext cx="0" cy="219456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7680960" y="3410712"/>
            <a:ext cx="384048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Repayments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601200" y="3886200"/>
            <a:ext cx="0" cy="219456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7680960" y="4105656"/>
            <a:ext cx="384048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601200" y="4581144"/>
            <a:ext cx="0" cy="219456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7680960" y="4800600"/>
            <a:ext cx="384048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601200" y="5276088"/>
            <a:ext cx="0" cy="219456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01B53EFB-6E7E-8FFA-FD51-FCD630856F69}"/>
              </a:ext>
            </a:extLst>
          </p:cNvPr>
          <p:cNvSpPr/>
          <p:nvPr/>
        </p:nvSpPr>
        <p:spPr>
          <a:xfrm>
            <a:off x="7652004" y="5486400"/>
            <a:ext cx="3840480" cy="47548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Support &amp; Reporting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68680" y="1545336"/>
            <a:ext cx="118872" cy="118872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029968"/>
            <a:ext cx="118872" cy="118872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88720" y="190195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applications require multiple stages of processing and review.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68680" y="2514600"/>
            <a:ext cx="118872" cy="118872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238658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Repayments and overdue installments need continuous tracking.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68680" y="2999232"/>
            <a:ext cx="118872" cy="118872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88720" y="2871216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and payment records need to remain consistent.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68680" y="3483864"/>
            <a:ext cx="118872" cy="118872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88720" y="335584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Administrators need centralized visibility into customers and financial activities.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868680" y="3968496"/>
            <a:ext cx="118872" cy="118872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384048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 financial companies require strict separation of their data.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868680" y="4453128"/>
            <a:ext cx="118872" cy="118872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" y="432511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systems need </a:t>
            </a:r>
            <a:r>
              <a:rPr lang="en-US" sz="1900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access</a:t>
            </a: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controlled operations.</a:t>
            </a:r>
            <a:endParaRPr lang="en-US" sz="1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30C569-9EAE-0391-B6AD-102FB9EF36A7}"/>
              </a:ext>
            </a:extLst>
          </p:cNvPr>
          <p:cNvSpPr txBox="1"/>
          <p:nvPr/>
        </p:nvSpPr>
        <p:spPr>
          <a:xfrm>
            <a:off x="1089906" y="1416647"/>
            <a:ext cx="1043743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centralized platform is required to connect these financial workflows securely and efficiently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108960" y="1463040"/>
            <a:ext cx="1828800" cy="4114800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2011680" cy="1097280"/>
          </a:xfrm>
          <a:prstGeom prst="rect">
            <a:avLst/>
          </a:prstGeom>
          <a:solidFill>
            <a:srgbClr val="F3F7FC"/>
          </a:solidFill>
          <a:ln w="15875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0" y="1463040"/>
            <a:ext cx="2011680" cy="1097280"/>
          </a:xfrm>
          <a:prstGeom prst="rect">
            <a:avLst/>
          </a:prstGeom>
          <a:solidFill>
            <a:srgbClr val="F3F7FC"/>
          </a:solidFill>
          <a:ln w="15875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560320" y="2011680"/>
            <a:ext cx="54864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2011680"/>
            <a:ext cx="54864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971800"/>
            <a:ext cx="2011680" cy="1097280"/>
          </a:xfrm>
          <a:prstGeom prst="rect">
            <a:avLst/>
          </a:prstGeom>
          <a:solidFill>
            <a:srgbClr val="F3F7FC"/>
          </a:solidFill>
          <a:ln w="15875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0" y="2971800"/>
            <a:ext cx="2011680" cy="1097280"/>
          </a:xfrm>
          <a:prstGeom prst="rect">
            <a:avLst/>
          </a:prstGeom>
          <a:solidFill>
            <a:srgbClr val="F3F7FC"/>
          </a:solidFill>
          <a:ln w="15875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560320" y="3520440"/>
            <a:ext cx="54864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37760" y="3520440"/>
            <a:ext cx="54864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480560"/>
            <a:ext cx="2011680" cy="1097280"/>
          </a:xfrm>
          <a:prstGeom prst="rect">
            <a:avLst/>
          </a:prstGeom>
          <a:solidFill>
            <a:srgbClr val="F3F7FC"/>
          </a:solidFill>
          <a:ln w="15875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0" y="4480560"/>
            <a:ext cx="2011680" cy="1097280"/>
          </a:xfrm>
          <a:prstGeom prst="rect">
            <a:avLst/>
          </a:prstGeom>
          <a:solidFill>
            <a:srgbClr val="F3F7FC"/>
          </a:solidFill>
          <a:ln w="15875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560320" y="5029200"/>
            <a:ext cx="54864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0" y="5029200"/>
            <a:ext cx="54864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1463040"/>
            <a:ext cx="3685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system brings major financial operations together through a centralized platform.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514600"/>
            <a:ext cx="36850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 customer and financial operations.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 lending, billing and payment workflows.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 structured and consistent financial records.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controlled access for customers and administrators.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multiple financial companies through tenant isolation.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5376672" cy="128016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527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Centralization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19202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Bring major financial operations into one platform.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1371600"/>
            <a:ext cx="5376672" cy="128016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1527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Multi-Tenancy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19202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multiple financial companies with isolated data.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2880360"/>
            <a:ext cx="5376672" cy="128016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035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Lending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34290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 the loan application, approval, disbursement and repayment lifecycle.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63640" y="2880360"/>
            <a:ext cx="5376672" cy="128016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92240" y="3200400"/>
            <a:ext cx="640080" cy="64008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360920" y="3035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7360920" y="34290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 subscriptions, invoices and payments.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389120"/>
            <a:ext cx="5376672" cy="128016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" y="4709160"/>
            <a:ext cx="640080" cy="64008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64592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1645920" y="49377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customer and financial information through controlled access.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263640" y="4389120"/>
            <a:ext cx="5376672" cy="128016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92240" y="4709160"/>
            <a:ext cx="640080" cy="64008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9224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736092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7360920" y="49377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searchable and reportable financial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325880"/>
            <a:ext cx="2926080" cy="59436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297680" y="1325880"/>
            <a:ext cx="2926080" cy="59436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ADMIN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286000" y="1920240"/>
            <a:ext cx="0" cy="22860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760720" y="1920240"/>
            <a:ext cx="0" cy="22860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822960" y="2148840"/>
            <a:ext cx="6400800" cy="5669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FRONTEND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023360" y="2715768"/>
            <a:ext cx="0" cy="27432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822960" y="2990088"/>
            <a:ext cx="6400800" cy="5669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 API GATEWAY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023360" y="3557016"/>
            <a:ext cx="0" cy="27432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22960" y="3831336"/>
            <a:ext cx="6400800" cy="5669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SERVICES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023360" y="4398264"/>
            <a:ext cx="0" cy="27432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822960" y="4672584"/>
            <a:ext cx="6400800" cy="566928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SQLALCHEMY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023360" y="5239512"/>
            <a:ext cx="0" cy="27432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822960" y="5513832"/>
            <a:ext cx="6400800" cy="566928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MYSQL 8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863840" y="2148840"/>
            <a:ext cx="3776472" cy="356616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9244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743200"/>
            <a:ext cx="3337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 and company administrators interact with the platform through separate interfaces. Requests pass through the API gateway to the backend services, which communicate with the relational database.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743200" y="1280160"/>
            <a:ext cx="8897112" cy="530352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280160"/>
            <a:ext cx="2103120" cy="530352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USER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51476" y="1362456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Portal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237476" y="1362456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Admin Portal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600200" y="1810512"/>
            <a:ext cx="0" cy="18288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43200" y="1993392"/>
            <a:ext cx="8897112" cy="530352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993392"/>
            <a:ext cx="2103120" cy="530352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FRONTEND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08476" y="207568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94476" y="207568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80476" y="207568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Axios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600200" y="2523744"/>
            <a:ext cx="0" cy="18288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743200" y="2706624"/>
            <a:ext cx="8897112" cy="530352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2706624"/>
            <a:ext cx="2103120" cy="530352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API GATEWAY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848356" y="278892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311396" y="278892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774436" y="278892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ID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237476" y="278892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700516" y="278892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Limiting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0163556" y="278892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Headers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1600200" y="3236976"/>
            <a:ext cx="0" cy="18288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2743200" y="3419856"/>
            <a:ext cx="8897112" cy="129844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419856"/>
            <a:ext cx="2103120" cy="1298448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 BACKEND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| FastAPI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880360" y="3547872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&amp; Authorization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332732" y="3547872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Management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785104" y="3547872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Management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237476" y="3547872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&amp; Subscription Management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689848" y="3547872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&amp; Repayment Management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0142220" y="3547872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&amp; Payment Management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880360" y="4114800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Refund Management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332732" y="4114800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Notification Service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785104" y="4114800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 Service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237476" y="4114800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Service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689848" y="4114800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Service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0142220" y="4114800"/>
            <a:ext cx="13609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 Service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600200" y="4718304"/>
            <a:ext cx="0" cy="18288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2743200" y="4901184"/>
            <a:ext cx="8897112" cy="530352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" y="4901184"/>
            <a:ext cx="2103120" cy="530352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 DATA ACCESS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808476" y="498348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SQLAlchemy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6094476" y="498348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Pydantic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8380476" y="498348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C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Alembic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1600200" y="5431536"/>
            <a:ext cx="0" cy="18288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2743200" y="5614416"/>
            <a:ext cx="8897112" cy="530352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" y="5614416"/>
            <a:ext cx="2103120" cy="530352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 DATABASE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6094476" y="5696712"/>
            <a:ext cx="2194560" cy="365760"/>
          </a:xfrm>
          <a:prstGeom prst="rect">
            <a:avLst/>
          </a:prstGeom>
          <a:solidFill>
            <a:srgbClr val="E8F5EC"/>
          </a:solidFill>
          <a:ln w="9525">
            <a:solidFill>
              <a:srgbClr val="1E7B4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MySQL 8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566160" cy="22860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43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&amp; USERS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188720"/>
            <a:ext cx="3566160" cy="22860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34840" y="1243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38160" y="1188720"/>
            <a:ext cx="3593592" cy="22860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24358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LENDING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08760" y="164592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COMPANIES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" y="269748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77440" y="269748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240280" y="2011680"/>
            <a:ext cx="0" cy="32004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71600" y="2331720"/>
            <a:ext cx="173736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71600" y="2331720"/>
            <a:ext cx="0" cy="36576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108960" y="2331720"/>
            <a:ext cx="0" cy="36576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4480560" y="164592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217920" y="164592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PLAN_BENEFITS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480560" y="269748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943600" y="1828800"/>
            <a:ext cx="2743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212080" y="2011680"/>
            <a:ext cx="0" cy="68580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840480" y="2880360"/>
            <a:ext cx="640080" cy="0"/>
          </a:xfrm>
          <a:prstGeom prst="line">
            <a:avLst/>
          </a:prstGeom>
          <a:noFill/>
          <a:ln w="25400">
            <a:solidFill>
              <a:srgbClr val="1E7B45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8321040" y="1600200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LOAN_APPLICATIONS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21040" y="221284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104120" y="221284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LOAN_TERMS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321040" y="2825496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REPAYMENT_SCHEDULES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104120" y="2825496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REPAYMENTS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075420" y="1965960"/>
            <a:ext cx="0" cy="246888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075420" y="2578608"/>
            <a:ext cx="0" cy="246888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829800" y="2395728"/>
            <a:ext cx="2743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829800" y="3008376"/>
            <a:ext cx="2743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2560320" y="3703320"/>
            <a:ext cx="5303520" cy="178308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697480" y="3758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&amp; PAYMENTS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138160" y="3703320"/>
            <a:ext cx="3593592" cy="178308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75320" y="375818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2743200" y="416052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INVOICE_ITEMS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480560" y="416052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INVOICES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2743200" y="489204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480560" y="489204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217920" y="489204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REFUNDS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 flipH="1">
            <a:off x="4206240" y="4343400"/>
            <a:ext cx="2743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5212080" y="4526280"/>
            <a:ext cx="0" cy="36576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 flipH="1">
            <a:off x="4206240" y="5074920"/>
            <a:ext cx="2743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5943600" y="5074920"/>
            <a:ext cx="2743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5212080" y="3063240"/>
            <a:ext cx="0" cy="1097280"/>
          </a:xfrm>
          <a:prstGeom prst="line">
            <a:avLst/>
          </a:prstGeom>
          <a:noFill/>
          <a:ln w="25400">
            <a:solidFill>
              <a:srgbClr val="1E7B45"/>
            </a:solidFill>
            <a:prstDash val="solid"/>
            <a:tailEnd type="triangle"/>
          </a:ln>
        </p:spPr>
      </p:sp>
      <p:sp>
        <p:nvSpPr>
          <p:cNvPr id="49" name="Text 46"/>
          <p:cNvSpPr/>
          <p:nvPr/>
        </p:nvSpPr>
        <p:spPr>
          <a:xfrm>
            <a:off x="8321040" y="416052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SUPPORT_TICKETS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10085832" y="416052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SUPPORT_MESSAGES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8321040" y="489204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10085832" y="489204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DOCUMENTS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9784080" y="4343400"/>
            <a:ext cx="301752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4" name="Text 51"/>
          <p:cNvSpPr txBox="1"/>
          <p:nvPr/>
        </p:nvSpPr>
        <p:spPr>
          <a:xfrm>
            <a:off x="457200" y="374904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entities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grouped into 5 logical areas.</a:t>
            </a:r>
            <a:endParaRPr lang="en-US" sz="1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60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Arrows show parent-to-child relationships; green arrows link customers to subscriptions and subscriptions to invoices.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BUSINESS WORKFLOW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508760"/>
            <a:ext cx="1920240" cy="1280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8928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Registration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creates an account.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15636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87168" y="2148840"/>
            <a:ext cx="36576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52928" y="1508760"/>
            <a:ext cx="1920240" cy="1280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44368" y="18928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Selection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joins the relevant financial company.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926080" y="15636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26080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73168" y="2148840"/>
            <a:ext cx="36576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138928" y="1508760"/>
            <a:ext cx="1920240" cy="1280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30368" y="18928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Selection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selects an available plan.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12080" y="15636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12080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59168" y="2148840"/>
            <a:ext cx="36576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424928" y="1508760"/>
            <a:ext cx="1920240" cy="1280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16368" y="18928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plan becomes an active subscription.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498080" y="15636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0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345168" y="2148840"/>
            <a:ext cx="36576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710928" y="1508760"/>
            <a:ext cx="1920240" cy="1280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802368" y="18928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Application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submits a loan request.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784080" y="15636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84080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66928" y="3703320"/>
            <a:ext cx="1920240" cy="128016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" y="4087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 Review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administrator reviews the application.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0080" y="375818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487168" y="4343400"/>
            <a:ext cx="36576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2852928" y="3703320"/>
            <a:ext cx="1920240" cy="128016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944368" y="4087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Approval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is approved or rejected.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926080" y="375818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92608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773168" y="4343400"/>
            <a:ext cx="36576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5138928" y="3703320"/>
            <a:ext cx="1920240" cy="128016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230368" y="4087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Disbursement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Approved loan amount is disbursed.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212080" y="375818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21208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059168" y="4343400"/>
            <a:ext cx="36576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7424928" y="3703320"/>
            <a:ext cx="1920240" cy="1280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516368" y="4087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Repayment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manages scheduled repayments.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498080" y="375818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49808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9345168" y="4343400"/>
            <a:ext cx="36576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9710928" y="3703320"/>
            <a:ext cx="1920240" cy="1280160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802368" y="4087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/ Payment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Invoices and payments are recorded.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784080" y="375818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8408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10671048" y="2788920"/>
            <a:ext cx="0" cy="45720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H="1">
            <a:off x="1527048" y="3246120"/>
            <a:ext cx="914400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527048" y="3246120"/>
            <a:ext cx="0" cy="45720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MANAGEMENT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1463040" cy="8686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65960" y="1805940"/>
            <a:ext cx="155448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2121408" y="1371600"/>
            <a:ext cx="1463040" cy="8686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84448" y="1805940"/>
            <a:ext cx="155448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739896" y="1371600"/>
            <a:ext cx="1463040" cy="8686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APPROVED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02936" y="1805940"/>
            <a:ext cx="155448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358384" y="1371600"/>
            <a:ext cx="1463040" cy="8686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DISBURSEMENT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21424" y="1805940"/>
            <a:ext cx="155448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6976872" y="1371600"/>
            <a:ext cx="1463040" cy="8686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439912" y="1805940"/>
            <a:ext cx="155448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8595360" y="1371600"/>
            <a:ext cx="1463040" cy="8686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REPAYMENTS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058400" y="1805940"/>
            <a:ext cx="155448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10213848" y="1371600"/>
            <a:ext cx="1463040" cy="86868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7432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FINANCIAL OPERATIONS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3337560"/>
            <a:ext cx="3566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46304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Interest calculation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311396" y="3337560"/>
            <a:ext cx="3566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494276" y="3566160"/>
            <a:ext cx="548640" cy="5486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6" y="370332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225796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Repayment schedule generation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074152" y="3337560"/>
            <a:ext cx="3566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257032" y="3566160"/>
            <a:ext cx="548640" cy="5486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3703320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988552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Partial repayments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548640" y="4572000"/>
            <a:ext cx="3566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31520" y="4800600"/>
            <a:ext cx="548640" cy="5486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937760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463040" y="4663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Outstanding balance tracking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4311396" y="4572000"/>
            <a:ext cx="3566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494276" y="4800600"/>
            <a:ext cx="548640" cy="5486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1436" y="493776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5225796" y="4663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Overdue installment tracking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8074152" y="4572000"/>
            <a:ext cx="3566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257032" y="4800600"/>
            <a:ext cx="548640" cy="5486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4937760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8988552" y="4663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Repayment reversal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&amp; PAYMENT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371600"/>
            <a:ext cx="1691640" cy="7772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58568" y="1760220"/>
            <a:ext cx="18288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2441448" y="1371600"/>
            <a:ext cx="1691640" cy="7772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33088" y="1760220"/>
            <a:ext cx="18288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315968" y="1371600"/>
            <a:ext cx="1691640" cy="777240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INVOICE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07608" y="1760220"/>
            <a:ext cx="18288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190488" y="1371600"/>
            <a:ext cx="1691640" cy="777240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882128" y="1760220"/>
            <a:ext cx="18288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065008" y="1371600"/>
            <a:ext cx="1691640" cy="777240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756648" y="1760220"/>
            <a:ext cx="18288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939528" y="1371600"/>
            <a:ext cx="1691640" cy="77724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REFUND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606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OPERATIONS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188720" y="3200400"/>
            <a:ext cx="548640" cy="54864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33756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965960" y="3200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 management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188720" y="3950208"/>
            <a:ext cx="548640" cy="54864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08736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965960" y="3950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Invoice generation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1188720" y="4700016"/>
            <a:ext cx="548640" cy="54864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4837176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965960" y="47000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tracking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1188720" y="5449824"/>
            <a:ext cx="548640" cy="54864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5586984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965960" y="54498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Billing history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6583680" y="3200400"/>
            <a:ext cx="548640" cy="54864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33756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360920" y="3200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Refund requests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6583680" y="3950208"/>
            <a:ext cx="548640" cy="54864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4087368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360920" y="3950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Refund approval / rejection</a:t>
            </a:r>
            <a:endParaRPr lang="en-US" sz="1800" dirty="0"/>
          </a:p>
        </p:txBody>
      </p:sp>
      <p:sp>
        <p:nvSpPr>
          <p:cNvPr id="37" name="Shape 28"/>
          <p:cNvSpPr/>
          <p:nvPr/>
        </p:nvSpPr>
        <p:spPr>
          <a:xfrm>
            <a:off x="6583680" y="4700016"/>
            <a:ext cx="548640" cy="548640"/>
          </a:xfrm>
          <a:prstGeom prst="ellipse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4837176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360920" y="47000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statements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&amp; MULTI-TENANCY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5852160" cy="548640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FINCORE PLATFORM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474720" y="1874520"/>
            <a:ext cx="0" cy="27432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0180" y="2148840"/>
            <a:ext cx="406908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0180" y="2148840"/>
            <a:ext cx="0" cy="22860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377440"/>
            <a:ext cx="178308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40080" y="2468880"/>
            <a:ext cx="1600200" cy="45720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3063240"/>
            <a:ext cx="1508760" cy="47548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3685032"/>
            <a:ext cx="1508760" cy="47548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4306824"/>
            <a:ext cx="1508760" cy="47548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474720" y="2148840"/>
            <a:ext cx="0" cy="22860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583180" y="2377440"/>
            <a:ext cx="178308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2674620" y="2468880"/>
            <a:ext cx="1600200" cy="45720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B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720340" y="3063240"/>
            <a:ext cx="1508760" cy="47548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20340" y="3685032"/>
            <a:ext cx="1508760" cy="47548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720340" y="4306824"/>
            <a:ext cx="1508760" cy="47548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509260" y="2148840"/>
            <a:ext cx="0" cy="22860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617720" y="2377440"/>
            <a:ext cx="178308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4709160" y="2468880"/>
            <a:ext cx="1600200" cy="457200"/>
          </a:xfrm>
          <a:prstGeom prst="rect">
            <a:avLst/>
          </a:prstGeom>
          <a:solidFill>
            <a:srgbClr val="1E7B45"/>
          </a:solidFill>
          <a:ln w="12700">
            <a:solidFill>
              <a:srgbClr val="1E7B4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C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54880" y="3063240"/>
            <a:ext cx="1508760" cy="47548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3685032"/>
            <a:ext cx="1508760" cy="47548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754880" y="4306824"/>
            <a:ext cx="1508760" cy="475488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5212080"/>
            <a:ext cx="5852160" cy="1005840"/>
          </a:xfrm>
          <a:prstGeom prst="rect">
            <a:avLst/>
          </a:prstGeom>
          <a:solidFill>
            <a:srgbClr val="E8F5E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company operates within its own tenant context, helping prevent unauthorized access to another company's financial data.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766560" y="1325880"/>
            <a:ext cx="4873752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99516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MECHANISMS</a:t>
            </a:r>
            <a:endParaRPr lang="en-US" sz="19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039112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452360" y="1965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and authorization</a:t>
            </a:r>
            <a:endParaRPr lang="en-US" sz="16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459736"/>
            <a:ext cx="237744" cy="237744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452360" y="23865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access control</a:t>
            </a:r>
            <a:endParaRPr lang="en-US" sz="16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880360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452360" y="2807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 hashing</a:t>
            </a:r>
            <a:endParaRPr lang="en-US" sz="16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300984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452360" y="32278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management</a:t>
            </a:r>
            <a:endParaRPr lang="en-US" sz="16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721608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7452360" y="36484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protection</a:t>
            </a:r>
            <a:endParaRPr lang="en-US" sz="16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142232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452360" y="4069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limiting</a:t>
            </a:r>
            <a:endParaRPr lang="en-US" sz="16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562856"/>
            <a:ext cx="237744" cy="237744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452360" y="44897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validation</a:t>
            </a:r>
            <a:endParaRPr lang="en-US" sz="16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983480"/>
            <a:ext cx="237744" cy="23774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452360" y="4910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Tenant-level data isolation</a:t>
            </a:r>
            <a:endParaRPr lang="en-US" sz="16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5404104"/>
            <a:ext cx="237744" cy="237744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7452360" y="5330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headers</a:t>
            </a:r>
            <a:endParaRPr lang="en-US" sz="16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5824728"/>
            <a:ext cx="237744" cy="237744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7452360" y="57515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events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 &amp; CONCLUSION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27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5349240" cy="109728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84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Integrations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04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email/OTP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Google OAuth deployment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304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External payment gateway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webhooks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5349240" cy="123444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5387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Kafka event processing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MongoDB activity logging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Spring Boot reporting service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526280"/>
            <a:ext cx="5349240" cy="914400"/>
          </a:xfrm>
          <a:prstGeom prst="rect">
            <a:avLst/>
          </a:prstGeom>
          <a:solidFill>
            <a:srgbClr val="F3F7FC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90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910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4910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Prometheus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Grafana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118872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7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309360" y="1645920"/>
            <a:ext cx="5330952" cy="1325880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"FinCore provides a centralized, secure and multi-tenant approach to managing interconnected banking and fintech operations."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309360" y="3154680"/>
            <a:ext cx="533095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154680"/>
            <a:ext cx="1463040" cy="6858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909560" y="31546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operations in one platform.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09360" y="3931920"/>
            <a:ext cx="533095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3931920"/>
            <a:ext cx="1463040" cy="6858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909560" y="39319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Plans → Loans → Repayments → Billing → Payments.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09360" y="4709160"/>
            <a:ext cx="533095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4709160"/>
            <a:ext cx="1463040" cy="6858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909560" y="47091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Designed for future integrations and infrastructure expansion.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solidFill>
            <a:srgbClr val="0B2A7A"/>
          </a:solidFill>
          <a:ln w="12700">
            <a:solidFill>
              <a:srgbClr val="0B2A7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1052</Words>
  <Application>Microsoft Office PowerPoint</Application>
  <PresentationFormat>Widescreen</PresentationFormat>
  <Paragraphs>298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 Sai Krishna</cp:lastModifiedBy>
  <cp:revision>19</cp:revision>
  <dcterms:created xsi:type="dcterms:W3CDTF">2026-10-01T09:23:26Z</dcterms:created>
  <dcterms:modified xsi:type="dcterms:W3CDTF">2026-10-02T09:48:20Z</dcterms:modified>
</cp:coreProperties>
</file>